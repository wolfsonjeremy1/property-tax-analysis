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64" r:id="rId3"/>
    <p:sldId id="284" r:id="rId4"/>
    <p:sldId id="306" r:id="rId5"/>
    <p:sldId id="263" r:id="rId6"/>
    <p:sldId id="257" r:id="rId7"/>
    <p:sldId id="259" r:id="rId8"/>
    <p:sldId id="265" r:id="rId9"/>
    <p:sldId id="268" r:id="rId10"/>
    <p:sldId id="271" r:id="rId11"/>
    <p:sldId id="278" r:id="rId12"/>
    <p:sldId id="303" r:id="rId13"/>
    <p:sldId id="283" r:id="rId14"/>
    <p:sldId id="304" r:id="rId15"/>
    <p:sldId id="285" r:id="rId16"/>
    <p:sldId id="289" r:id="rId17"/>
    <p:sldId id="262" r:id="rId18"/>
    <p:sldId id="261" r:id="rId19"/>
    <p:sldId id="286" r:id="rId20"/>
    <p:sldId id="287" r:id="rId21"/>
    <p:sldId id="305" r:id="rId22"/>
    <p:sldId id="290" r:id="rId23"/>
    <p:sldId id="288" r:id="rId24"/>
    <p:sldId id="292" r:id="rId25"/>
    <p:sldId id="294" r:id="rId26"/>
    <p:sldId id="293" r:id="rId27"/>
    <p:sldId id="300" r:id="rId28"/>
    <p:sldId id="298" r:id="rId29"/>
    <p:sldId id="299" r:id="rId30"/>
    <p:sldId id="302" r:id="rId31"/>
    <p:sldId id="307" r:id="rId32"/>
    <p:sldId id="30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31" autoAdjust="0"/>
    <p:restoredTop sz="94660"/>
  </p:normalViewPr>
  <p:slideViewPr>
    <p:cSldViewPr snapToGrid="0">
      <p:cViewPr varScale="1">
        <p:scale>
          <a:sx n="114" d="100"/>
          <a:sy n="114" d="100"/>
        </p:scale>
        <p:origin x="3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3773D31-B9AC-4ACB-8C5B-925644645A43}" type="datetimeFigureOut">
              <a:rPr lang="en-US" smtClean="0"/>
              <a:t>6/18/2026</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D971D8E5-59E5-48B6-A924-4EF3FB549694}"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053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773D31-B9AC-4ACB-8C5B-925644645A43}"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71D8E5-59E5-48B6-A924-4EF3FB549694}" type="slidenum">
              <a:rPr lang="en-US" smtClean="0"/>
              <a:t>‹#›</a:t>
            </a:fld>
            <a:endParaRPr lang="en-US"/>
          </a:p>
        </p:txBody>
      </p:sp>
    </p:spTree>
    <p:extLst>
      <p:ext uri="{BB962C8B-B14F-4D97-AF65-F5344CB8AC3E}">
        <p14:creationId xmlns:p14="http://schemas.microsoft.com/office/powerpoint/2010/main" val="1373996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773D31-B9AC-4ACB-8C5B-925644645A43}"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71D8E5-59E5-48B6-A924-4EF3FB549694}"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0366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773D31-B9AC-4ACB-8C5B-925644645A43}"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71D8E5-59E5-48B6-A924-4EF3FB549694}" type="slidenum">
              <a:rPr lang="en-US" smtClean="0"/>
              <a:t>‹#›</a:t>
            </a:fld>
            <a:endParaRPr lang="en-US"/>
          </a:p>
        </p:txBody>
      </p:sp>
    </p:spTree>
    <p:extLst>
      <p:ext uri="{BB962C8B-B14F-4D97-AF65-F5344CB8AC3E}">
        <p14:creationId xmlns:p14="http://schemas.microsoft.com/office/powerpoint/2010/main" val="2732269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773D31-B9AC-4ACB-8C5B-925644645A43}" type="datetimeFigureOut">
              <a:rPr lang="en-US" smtClean="0"/>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71D8E5-59E5-48B6-A924-4EF3FB549694}" type="slidenum">
              <a:rPr lang="en-US" smtClean="0"/>
              <a:t>‹#›</a:t>
            </a:fld>
            <a:endParaRPr lang="en-US"/>
          </a:p>
        </p:txBody>
      </p:sp>
    </p:spTree>
    <p:extLst>
      <p:ext uri="{BB962C8B-B14F-4D97-AF65-F5344CB8AC3E}">
        <p14:creationId xmlns:p14="http://schemas.microsoft.com/office/powerpoint/2010/main" val="1646018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773D31-B9AC-4ACB-8C5B-925644645A43}" type="datetimeFigureOut">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71D8E5-59E5-48B6-A924-4EF3FB549694}" type="slidenum">
              <a:rPr lang="en-US" smtClean="0"/>
              <a:t>‹#›</a:t>
            </a:fld>
            <a:endParaRPr lang="en-US"/>
          </a:p>
        </p:txBody>
      </p:sp>
    </p:spTree>
    <p:extLst>
      <p:ext uri="{BB962C8B-B14F-4D97-AF65-F5344CB8AC3E}">
        <p14:creationId xmlns:p14="http://schemas.microsoft.com/office/powerpoint/2010/main" val="4147863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773D31-B9AC-4ACB-8C5B-925644645A43}" type="datetimeFigureOut">
              <a:rPr lang="en-US" smtClean="0"/>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71D8E5-59E5-48B6-A924-4EF3FB549694}" type="slidenum">
              <a:rPr lang="en-US" smtClean="0"/>
              <a:t>‹#›</a:t>
            </a:fld>
            <a:endParaRPr lang="en-US"/>
          </a:p>
        </p:txBody>
      </p:sp>
    </p:spTree>
    <p:extLst>
      <p:ext uri="{BB962C8B-B14F-4D97-AF65-F5344CB8AC3E}">
        <p14:creationId xmlns:p14="http://schemas.microsoft.com/office/powerpoint/2010/main" val="3542801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773D31-B9AC-4ACB-8C5B-925644645A43}"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71D8E5-59E5-48B6-A924-4EF3FB549694}" type="slidenum">
              <a:rPr lang="en-US" smtClean="0"/>
              <a:t>‹#›</a:t>
            </a:fld>
            <a:endParaRPr lang="en-US"/>
          </a:p>
        </p:txBody>
      </p:sp>
    </p:spTree>
    <p:extLst>
      <p:ext uri="{BB962C8B-B14F-4D97-AF65-F5344CB8AC3E}">
        <p14:creationId xmlns:p14="http://schemas.microsoft.com/office/powerpoint/2010/main" val="3166346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773D31-B9AC-4ACB-8C5B-925644645A43}"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71D8E5-59E5-48B6-A924-4EF3FB549694}" type="slidenum">
              <a:rPr lang="en-US" smtClean="0"/>
              <a:t>‹#›</a:t>
            </a:fld>
            <a:endParaRPr lang="en-US"/>
          </a:p>
        </p:txBody>
      </p:sp>
    </p:spTree>
    <p:extLst>
      <p:ext uri="{BB962C8B-B14F-4D97-AF65-F5344CB8AC3E}">
        <p14:creationId xmlns:p14="http://schemas.microsoft.com/office/powerpoint/2010/main" val="1711609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773D31-B9AC-4ACB-8C5B-925644645A43}"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71D8E5-59E5-48B6-A924-4EF3FB549694}" type="slidenum">
              <a:rPr lang="en-US" smtClean="0"/>
              <a:t>‹#›</a:t>
            </a:fld>
            <a:endParaRPr lang="en-US"/>
          </a:p>
        </p:txBody>
      </p:sp>
    </p:spTree>
    <p:extLst>
      <p:ext uri="{BB962C8B-B14F-4D97-AF65-F5344CB8AC3E}">
        <p14:creationId xmlns:p14="http://schemas.microsoft.com/office/powerpoint/2010/main" val="1274525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773D31-B9AC-4ACB-8C5B-925644645A43}"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71D8E5-59E5-48B6-A924-4EF3FB549694}" type="slidenum">
              <a:rPr lang="en-US" smtClean="0"/>
              <a:t>‹#›</a:t>
            </a:fld>
            <a:endParaRPr lang="en-US"/>
          </a:p>
        </p:txBody>
      </p:sp>
    </p:spTree>
    <p:extLst>
      <p:ext uri="{BB962C8B-B14F-4D97-AF65-F5344CB8AC3E}">
        <p14:creationId xmlns:p14="http://schemas.microsoft.com/office/powerpoint/2010/main" val="900145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13773D31-B9AC-4ACB-8C5B-925644645A43}" type="datetimeFigureOut">
              <a:rPr lang="en-US" smtClean="0"/>
              <a:t>6/18/2026</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D971D8E5-59E5-48B6-A924-4EF3FB549694}" type="slidenum">
              <a:rPr lang="en-US" smtClean="0"/>
              <a:t>‹#›</a:t>
            </a:fld>
            <a:endParaRPr lang="en-US"/>
          </a:p>
        </p:txBody>
      </p:sp>
    </p:spTree>
    <p:extLst>
      <p:ext uri="{BB962C8B-B14F-4D97-AF65-F5344CB8AC3E}">
        <p14:creationId xmlns:p14="http://schemas.microsoft.com/office/powerpoint/2010/main" val="3510158478"/>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19.xml.rels><?xml version="1.0" encoding="UTF-8" standalone="yes"?>
<Relationships xmlns="http://schemas.openxmlformats.org/package/2006/relationships"><Relationship Id="rId3" Type="http://schemas.openxmlformats.org/officeDocument/2006/relationships/hyperlink" Target="https://www.realtor.com/advice/buy/what-does-buying-a-foreclosed-home-entail/" TargetMode="External"/><Relationship Id="rId2" Type="http://schemas.openxmlformats.org/officeDocument/2006/relationships/hyperlink" Target="https://www.homelight.com/blog/buyer-how-much-do-foreclosed-homes-sell-for-at-auction/"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15DD1-DCBD-260A-5ACD-77F965E2CF5E}"/>
              </a:ext>
            </a:extLst>
          </p:cNvPr>
          <p:cNvSpPr>
            <a:spLocks noGrp="1"/>
          </p:cNvSpPr>
          <p:nvPr>
            <p:ph type="ctrTitle"/>
          </p:nvPr>
        </p:nvSpPr>
        <p:spPr>
          <a:xfrm>
            <a:off x="1177091" y="2035168"/>
            <a:ext cx="9966960" cy="1252056"/>
          </a:xfrm>
        </p:spPr>
        <p:txBody>
          <a:bodyPr/>
          <a:lstStyle/>
          <a:p>
            <a:r>
              <a:rPr lang="en-US" dirty="0"/>
              <a:t>Appraisal Dispute</a:t>
            </a:r>
          </a:p>
        </p:txBody>
      </p:sp>
      <p:sp>
        <p:nvSpPr>
          <p:cNvPr id="3" name="Subtitle 2">
            <a:extLst>
              <a:ext uri="{FF2B5EF4-FFF2-40B4-BE49-F238E27FC236}">
                <a16:creationId xmlns:a16="http://schemas.microsoft.com/office/drawing/2014/main" id="{919686F4-68A9-BF34-D617-1712DF5AA0BC}"/>
              </a:ext>
            </a:extLst>
          </p:cNvPr>
          <p:cNvSpPr>
            <a:spLocks noGrp="1"/>
          </p:cNvSpPr>
          <p:nvPr>
            <p:ph type="subTitle" idx="1"/>
          </p:nvPr>
        </p:nvSpPr>
        <p:spPr>
          <a:xfrm>
            <a:off x="1712070" y="4599476"/>
            <a:ext cx="8767860" cy="1388165"/>
          </a:xfrm>
        </p:spPr>
        <p:txBody>
          <a:bodyPr/>
          <a:lstStyle/>
          <a:p>
            <a:r>
              <a:rPr lang="en-US" dirty="0"/>
              <a:t>Jeremy Wolfson</a:t>
            </a:r>
          </a:p>
        </p:txBody>
      </p:sp>
    </p:spTree>
    <p:extLst>
      <p:ext uri="{BB962C8B-B14F-4D97-AF65-F5344CB8AC3E}">
        <p14:creationId xmlns:p14="http://schemas.microsoft.com/office/powerpoint/2010/main" val="1722652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511B4-B6EC-3B3E-30FA-B5624D07465C}"/>
              </a:ext>
            </a:extLst>
          </p:cNvPr>
          <p:cNvSpPr>
            <a:spLocks noGrp="1"/>
          </p:cNvSpPr>
          <p:nvPr>
            <p:ph type="title"/>
          </p:nvPr>
        </p:nvSpPr>
        <p:spPr>
          <a:xfrm>
            <a:off x="899275" y="1322990"/>
            <a:ext cx="10393449" cy="1905000"/>
          </a:xfrm>
        </p:spPr>
        <p:txBody>
          <a:bodyPr>
            <a:normAutofit fontScale="90000"/>
          </a:bodyPr>
          <a:lstStyle/>
          <a:p>
            <a:r>
              <a:rPr lang="en-US" dirty="0"/>
              <a:t>The following analysis is performed and cited as: </a:t>
            </a:r>
            <a:br>
              <a:rPr lang="en-US" dirty="0"/>
            </a:br>
            <a:br>
              <a:rPr lang="en-US" dirty="0"/>
            </a:br>
            <a:r>
              <a:rPr lang="en-US" dirty="0"/>
              <a:t>Jeremy Wolfson, Numerical Comparative Market Analysis, June 2026. Dataset source: Unlock MLS Residential Sales Records, Zillow, Williamson CAD, Federal Reserve, Service Link Auction, &amp; Texas Tax Code, various analysis sites.</a:t>
            </a:r>
          </a:p>
        </p:txBody>
      </p:sp>
      <p:sp>
        <p:nvSpPr>
          <p:cNvPr id="7" name="Content Placeholder 6">
            <a:extLst>
              <a:ext uri="{FF2B5EF4-FFF2-40B4-BE49-F238E27FC236}">
                <a16:creationId xmlns:a16="http://schemas.microsoft.com/office/drawing/2014/main" id="{DEEBEF30-ADDE-B6C5-59FE-C475A04FE81F}"/>
              </a:ext>
            </a:extLst>
          </p:cNvPr>
          <p:cNvSpPr>
            <a:spLocks noGrp="1"/>
          </p:cNvSpPr>
          <p:nvPr>
            <p:ph idx="1"/>
          </p:nvPr>
        </p:nvSpPr>
        <p:spPr>
          <a:xfrm>
            <a:off x="1024128" y="4582510"/>
            <a:ext cx="9720073" cy="1726850"/>
          </a:xfrm>
        </p:spPr>
        <p:txBody>
          <a:bodyPr/>
          <a:lstStyle/>
          <a:p>
            <a:r>
              <a:rPr lang="en-US" dirty="0"/>
              <a:t>Texas Tax Code § 23.01(a), Appraisals Generally — taxable property shall be appraised at market value as of January 1</a:t>
            </a:r>
          </a:p>
          <a:p>
            <a:r>
              <a:rPr lang="en-US" dirty="0"/>
              <a:t>Texas Tax Code § 1.04(7), Definition of Market Value — defines market value as the price a property would transfer for cash in an open market transaction</a:t>
            </a:r>
          </a:p>
        </p:txBody>
      </p:sp>
    </p:spTree>
    <p:extLst>
      <p:ext uri="{BB962C8B-B14F-4D97-AF65-F5344CB8AC3E}">
        <p14:creationId xmlns:p14="http://schemas.microsoft.com/office/powerpoint/2010/main" val="1367308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31B997-9EF6-E460-816C-93B1D980B157}"/>
              </a:ext>
            </a:extLst>
          </p:cNvPr>
          <p:cNvSpPr>
            <a:spLocks noGrp="1"/>
          </p:cNvSpPr>
          <p:nvPr>
            <p:ph idx="1"/>
          </p:nvPr>
        </p:nvSpPr>
        <p:spPr>
          <a:xfrm>
            <a:off x="1143000" y="5385732"/>
            <a:ext cx="9872871" cy="710268"/>
          </a:xfrm>
        </p:spPr>
        <p:txBody>
          <a:bodyPr/>
          <a:lstStyle/>
          <a:p>
            <a:pPr marL="45720" indent="0">
              <a:buNone/>
            </a:pPr>
            <a:r>
              <a:rPr lang="en-US" dirty="0"/>
              <a:t>https://www.resiclubanalytics.com/p/biggest-home-price-declines-hitting-housing-markets-that-overheated-most-during-the-pandemic-housing</a:t>
            </a:r>
          </a:p>
        </p:txBody>
      </p:sp>
      <p:sp>
        <p:nvSpPr>
          <p:cNvPr id="4" name="Content Placeholder 2">
            <a:extLst>
              <a:ext uri="{FF2B5EF4-FFF2-40B4-BE49-F238E27FC236}">
                <a16:creationId xmlns:a16="http://schemas.microsoft.com/office/drawing/2014/main" id="{25693A0A-96A4-26A2-8A59-0EB8A57AF333}"/>
              </a:ext>
            </a:extLst>
          </p:cNvPr>
          <p:cNvSpPr txBox="1">
            <a:spLocks/>
          </p:cNvSpPr>
          <p:nvPr/>
        </p:nvSpPr>
        <p:spPr>
          <a:xfrm>
            <a:off x="7832933" y="863582"/>
            <a:ext cx="4131179" cy="3785330"/>
          </a:xfrm>
          <a:prstGeom prst="rect">
            <a:avLst/>
          </a:prstGeom>
        </p:spPr>
        <p:txBody>
          <a:bodyPr vert="horz" lIns="91440" tIns="45720" rIns="91440" bIns="45720" rtlCol="0">
            <a:normAutofit/>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marL="45720" indent="0">
              <a:buNone/>
            </a:pPr>
            <a:r>
              <a:rPr lang="en-US" dirty="0"/>
              <a:t>“At the end of October 2025, home prices in Austin—which is currently passing through a correction—were -26% below the market’s 2022 peak.”</a:t>
            </a:r>
          </a:p>
        </p:txBody>
      </p:sp>
      <p:pic>
        <p:nvPicPr>
          <p:cNvPr id="6" name="Picture 5">
            <a:extLst>
              <a:ext uri="{FF2B5EF4-FFF2-40B4-BE49-F238E27FC236}">
                <a16:creationId xmlns:a16="http://schemas.microsoft.com/office/drawing/2014/main" id="{DBB52CF2-93DA-DE80-8DD8-74955228FE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658025"/>
            <a:ext cx="6065139" cy="4499361"/>
          </a:xfrm>
          <a:prstGeom prst="rect">
            <a:avLst/>
          </a:prstGeom>
        </p:spPr>
      </p:pic>
    </p:spTree>
    <p:extLst>
      <p:ext uri="{BB962C8B-B14F-4D97-AF65-F5344CB8AC3E}">
        <p14:creationId xmlns:p14="http://schemas.microsoft.com/office/powerpoint/2010/main" val="227865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51C076-1E61-63EB-17D5-6A45EBFDC75B}"/>
              </a:ext>
            </a:extLst>
          </p:cNvPr>
          <p:cNvSpPr>
            <a:spLocks noGrp="1"/>
          </p:cNvSpPr>
          <p:nvPr>
            <p:ph idx="1"/>
          </p:nvPr>
        </p:nvSpPr>
        <p:spPr>
          <a:xfrm>
            <a:off x="1167492" y="5309569"/>
            <a:ext cx="9731829" cy="1490949"/>
          </a:xfrm>
        </p:spPr>
        <p:txBody>
          <a:bodyPr/>
          <a:lstStyle/>
          <a:p>
            <a:pPr marL="45720" indent="0">
              <a:buNone/>
            </a:pPr>
            <a:r>
              <a:rPr lang="en-US" dirty="0"/>
              <a:t>https://www.marketplace.org/story/2026/01/20/home-sellers-outnumbered-buyers-in-december</a:t>
            </a:r>
          </a:p>
        </p:txBody>
      </p:sp>
      <p:pic>
        <p:nvPicPr>
          <p:cNvPr id="10" name="Picture 9">
            <a:extLst>
              <a:ext uri="{FF2B5EF4-FFF2-40B4-BE49-F238E27FC236}">
                <a16:creationId xmlns:a16="http://schemas.microsoft.com/office/drawing/2014/main" id="{58AC0A9F-7CE0-71A0-7BFB-36D150517D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7492" y="802956"/>
            <a:ext cx="6106572" cy="4071048"/>
          </a:xfrm>
          <a:prstGeom prst="rect">
            <a:avLst/>
          </a:prstGeom>
        </p:spPr>
      </p:pic>
      <p:sp>
        <p:nvSpPr>
          <p:cNvPr id="11" name="Content Placeholder 2">
            <a:extLst>
              <a:ext uri="{FF2B5EF4-FFF2-40B4-BE49-F238E27FC236}">
                <a16:creationId xmlns:a16="http://schemas.microsoft.com/office/drawing/2014/main" id="{A014AFB8-A14A-8607-3899-B5201D21B3C9}"/>
              </a:ext>
            </a:extLst>
          </p:cNvPr>
          <p:cNvSpPr txBox="1">
            <a:spLocks/>
          </p:cNvSpPr>
          <p:nvPr/>
        </p:nvSpPr>
        <p:spPr>
          <a:xfrm>
            <a:off x="7895089" y="802955"/>
            <a:ext cx="3722914" cy="3893775"/>
          </a:xfrm>
          <a:prstGeom prst="rect">
            <a:avLst/>
          </a:prstGeom>
        </p:spPr>
        <p:txBody>
          <a:bodyPr vert="horz" lIns="91440" tIns="45720" rIns="91440" bIns="45720" rtlCol="0">
            <a:normAutofit/>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marL="45720" indent="0">
              <a:buNone/>
            </a:pPr>
            <a:r>
              <a:rPr lang="en-US" dirty="0"/>
              <a:t>"There were an estimated 47.1% more home sellers than buyers in December 2025—the largest gap in records dating back to 2013.”</a:t>
            </a:r>
            <a:br>
              <a:rPr lang="en-US" dirty="0"/>
            </a:br>
            <a:br>
              <a:rPr lang="en-US" dirty="0"/>
            </a:br>
            <a:r>
              <a:rPr lang="en-US" dirty="0"/>
              <a:t>“In Austin, TX, there were an estimated 128% more home sellers than buyers in December—the largest imbalance among the top 50 metros.”</a:t>
            </a:r>
          </a:p>
        </p:txBody>
      </p:sp>
    </p:spTree>
    <p:extLst>
      <p:ext uri="{BB962C8B-B14F-4D97-AF65-F5344CB8AC3E}">
        <p14:creationId xmlns:p14="http://schemas.microsoft.com/office/powerpoint/2010/main" val="3116161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920C-F3ED-7B2B-54C7-0F4C26444E48}"/>
              </a:ext>
            </a:extLst>
          </p:cNvPr>
          <p:cNvSpPr>
            <a:spLocks noGrp="1"/>
          </p:cNvSpPr>
          <p:nvPr>
            <p:ph type="title"/>
          </p:nvPr>
        </p:nvSpPr>
        <p:spPr>
          <a:xfrm>
            <a:off x="995748" y="608901"/>
            <a:ext cx="10200503" cy="5640198"/>
          </a:xfrm>
        </p:spPr>
        <p:txBody>
          <a:bodyPr/>
          <a:lstStyle/>
          <a:p>
            <a:pPr algn="ctr"/>
            <a:r>
              <a:rPr lang="en-US" dirty="0"/>
              <a:t>Market Dataset 1</a:t>
            </a:r>
          </a:p>
        </p:txBody>
      </p:sp>
    </p:spTree>
    <p:extLst>
      <p:ext uri="{BB962C8B-B14F-4D97-AF65-F5344CB8AC3E}">
        <p14:creationId xmlns:p14="http://schemas.microsoft.com/office/powerpoint/2010/main" val="882978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3298-3D14-4CBF-5BB8-695329C8544A}"/>
              </a:ext>
            </a:extLst>
          </p:cNvPr>
          <p:cNvSpPr>
            <a:spLocks noGrp="1"/>
          </p:cNvSpPr>
          <p:nvPr>
            <p:ph type="title"/>
          </p:nvPr>
        </p:nvSpPr>
        <p:spPr/>
        <p:txBody>
          <a:bodyPr/>
          <a:lstStyle/>
          <a:p>
            <a:r>
              <a:rPr lang="en-US" dirty="0"/>
              <a:t>Average 2025 Housing Market</a:t>
            </a:r>
          </a:p>
        </p:txBody>
      </p:sp>
      <p:graphicFrame>
        <p:nvGraphicFramePr>
          <p:cNvPr id="5" name="Content Placeholder 4">
            <a:extLst>
              <a:ext uri="{FF2B5EF4-FFF2-40B4-BE49-F238E27FC236}">
                <a16:creationId xmlns:a16="http://schemas.microsoft.com/office/drawing/2014/main" id="{1BDF9105-2858-E257-8793-286E30B05A8D}"/>
              </a:ext>
            </a:extLst>
          </p:cNvPr>
          <p:cNvGraphicFramePr>
            <a:graphicFrameLocks noGrp="1"/>
          </p:cNvGraphicFramePr>
          <p:nvPr>
            <p:ph idx="1"/>
            <p:extLst>
              <p:ext uri="{D42A27DB-BD31-4B8C-83A1-F6EECF244321}">
                <p14:modId xmlns:p14="http://schemas.microsoft.com/office/powerpoint/2010/main" val="675349431"/>
              </p:ext>
            </p:extLst>
          </p:nvPr>
        </p:nvGraphicFramePr>
        <p:xfrm>
          <a:off x="0" y="13132"/>
          <a:ext cx="12191999" cy="6844863"/>
        </p:xfrm>
        <a:graphic>
          <a:graphicData uri="http://schemas.openxmlformats.org/drawingml/2006/table">
            <a:tbl>
              <a:tblPr firstRow="1" bandRow="1">
                <a:tableStyleId>{5C22544A-7EE6-4342-B048-85BDC9FD1C3A}</a:tableStyleId>
              </a:tblPr>
              <a:tblGrid>
                <a:gridCol w="2239861">
                  <a:extLst>
                    <a:ext uri="{9D8B030D-6E8A-4147-A177-3AD203B41FA5}">
                      <a16:colId xmlns:a16="http://schemas.microsoft.com/office/drawing/2014/main" val="169913224"/>
                    </a:ext>
                  </a:extLst>
                </a:gridCol>
                <a:gridCol w="746620">
                  <a:extLst>
                    <a:ext uri="{9D8B030D-6E8A-4147-A177-3AD203B41FA5}">
                      <a16:colId xmlns:a16="http://schemas.microsoft.com/office/drawing/2014/main" val="250676537"/>
                    </a:ext>
                  </a:extLst>
                </a:gridCol>
                <a:gridCol w="1442906">
                  <a:extLst>
                    <a:ext uri="{9D8B030D-6E8A-4147-A177-3AD203B41FA5}">
                      <a16:colId xmlns:a16="http://schemas.microsoft.com/office/drawing/2014/main" val="4277830208"/>
                    </a:ext>
                  </a:extLst>
                </a:gridCol>
                <a:gridCol w="1484852">
                  <a:extLst>
                    <a:ext uri="{9D8B030D-6E8A-4147-A177-3AD203B41FA5}">
                      <a16:colId xmlns:a16="http://schemas.microsoft.com/office/drawing/2014/main" val="1477679567"/>
                    </a:ext>
                  </a:extLst>
                </a:gridCol>
                <a:gridCol w="872455">
                  <a:extLst>
                    <a:ext uri="{9D8B030D-6E8A-4147-A177-3AD203B41FA5}">
                      <a16:colId xmlns:a16="http://schemas.microsoft.com/office/drawing/2014/main" val="1493906188"/>
                    </a:ext>
                  </a:extLst>
                </a:gridCol>
                <a:gridCol w="903597">
                  <a:extLst>
                    <a:ext uri="{9D8B030D-6E8A-4147-A177-3AD203B41FA5}">
                      <a16:colId xmlns:a16="http://schemas.microsoft.com/office/drawing/2014/main" val="2491920402"/>
                    </a:ext>
                  </a:extLst>
                </a:gridCol>
                <a:gridCol w="1068095">
                  <a:extLst>
                    <a:ext uri="{9D8B030D-6E8A-4147-A177-3AD203B41FA5}">
                      <a16:colId xmlns:a16="http://schemas.microsoft.com/office/drawing/2014/main" val="1822091152"/>
                    </a:ext>
                  </a:extLst>
                </a:gridCol>
                <a:gridCol w="1248851">
                  <a:extLst>
                    <a:ext uri="{9D8B030D-6E8A-4147-A177-3AD203B41FA5}">
                      <a16:colId xmlns:a16="http://schemas.microsoft.com/office/drawing/2014/main" val="3889081666"/>
                    </a:ext>
                  </a:extLst>
                </a:gridCol>
                <a:gridCol w="1347444">
                  <a:extLst>
                    <a:ext uri="{9D8B030D-6E8A-4147-A177-3AD203B41FA5}">
                      <a16:colId xmlns:a16="http://schemas.microsoft.com/office/drawing/2014/main" val="3768648703"/>
                    </a:ext>
                  </a:extLst>
                </a:gridCol>
                <a:gridCol w="837318">
                  <a:extLst>
                    <a:ext uri="{9D8B030D-6E8A-4147-A177-3AD203B41FA5}">
                      <a16:colId xmlns:a16="http://schemas.microsoft.com/office/drawing/2014/main" val="1042327273"/>
                    </a:ext>
                  </a:extLst>
                </a:gridCol>
              </a:tblGrid>
              <a:tr h="227341">
                <a:tc>
                  <a:txBody>
                    <a:bodyPr/>
                    <a:lstStyle/>
                    <a:p>
                      <a:pPr algn="l" fontAlgn="b">
                        <a:buNone/>
                      </a:pPr>
                      <a:r>
                        <a:rPr lang="en-US" sz="1400" b="0" i="0" u="none" strike="noStrike" dirty="0">
                          <a:solidFill>
                            <a:srgbClr val="000000"/>
                          </a:solidFill>
                          <a:effectLst/>
                          <a:latin typeface="Aptos Narrow" panose="020B0004020202020204" pitchFamily="34" charset="0"/>
                        </a:rPr>
                        <a:t>address</a:t>
                      </a:r>
                    </a:p>
                  </a:txBody>
                  <a:tcPr marL="9525" marR="9525" marT="9525" marB="0" anchor="b"/>
                </a:tc>
                <a:tc>
                  <a:txBody>
                    <a:bodyPr/>
                    <a:lstStyle/>
                    <a:p>
                      <a:pPr algn="l" fontAlgn="b">
                        <a:buNone/>
                      </a:pPr>
                      <a:r>
                        <a:rPr lang="en-US" sz="1400" b="0" i="0" u="none" strike="noStrike" dirty="0" err="1">
                          <a:solidFill>
                            <a:srgbClr val="000000"/>
                          </a:solidFill>
                          <a:effectLst/>
                          <a:latin typeface="Aptos Narrow" panose="020B0004020202020204" pitchFamily="34" charset="0"/>
                        </a:rPr>
                        <a:t>year_built</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2026 tax evaluation</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2025 tax evaluation</a:t>
                      </a:r>
                    </a:p>
                  </a:txBody>
                  <a:tcPr marL="9525" marR="9525" marT="9525" marB="0" anchor="b"/>
                </a:tc>
                <a:tc>
                  <a:txBody>
                    <a:bodyPr/>
                    <a:lstStyle/>
                    <a:p>
                      <a:pPr algn="l" fontAlgn="b">
                        <a:buNone/>
                      </a:pPr>
                      <a:r>
                        <a:rPr lang="en-US" sz="1400" b="0" i="0" u="none" strike="noStrike" dirty="0" err="1">
                          <a:solidFill>
                            <a:srgbClr val="000000"/>
                          </a:solidFill>
                          <a:effectLst/>
                          <a:latin typeface="Aptos Narrow" panose="020B0004020202020204" pitchFamily="34" charset="0"/>
                        </a:rPr>
                        <a:t>initial_ppsf</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b="0" i="0" u="none" strike="noStrike" dirty="0" err="1">
                          <a:solidFill>
                            <a:srgbClr val="000000"/>
                          </a:solidFill>
                          <a:effectLst/>
                          <a:latin typeface="Aptos Narrow" panose="020B0004020202020204" pitchFamily="34" charset="0"/>
                        </a:rPr>
                        <a:t>initial_price</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update1_price</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update2_price</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update3_price</a:t>
                      </a:r>
                    </a:p>
                  </a:txBody>
                  <a:tcPr marL="9525" marR="9525" marT="9525" marB="0" anchor="b"/>
                </a:tc>
                <a:tc>
                  <a:txBody>
                    <a:bodyPr/>
                    <a:lstStyle/>
                    <a:p>
                      <a:pPr algn="l" fontAlgn="b">
                        <a:buNone/>
                      </a:pPr>
                      <a:r>
                        <a:rPr lang="en-US" sz="1400" b="0" i="0" u="none" strike="noStrike" dirty="0" err="1">
                          <a:solidFill>
                            <a:srgbClr val="000000"/>
                          </a:solidFill>
                          <a:effectLst/>
                          <a:latin typeface="Aptos Narrow" panose="020B0004020202020204" pitchFamily="34" charset="0"/>
                        </a:rPr>
                        <a:t>latest_date</a:t>
                      </a:r>
                      <a:endParaRPr lang="en-US" sz="14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39490893"/>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100 Quarton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2018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317563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357582</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179.58</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316900</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299000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289000</a:t>
                      </a: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11/4/2025</a:t>
                      </a:r>
                    </a:p>
                  </a:txBody>
                  <a:tcPr marL="9525" marR="9525" marT="9525" marB="0" anchor="b"/>
                </a:tc>
                <a:extLst>
                  <a:ext uri="{0D108BD9-81ED-4DB2-BD59-A6C34878D82A}">
                    <a16:rowId xmlns:a16="http://schemas.microsoft.com/office/drawing/2014/main" val="3778502439"/>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102 Quail Hollow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292763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317711</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142.78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300000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282000</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265000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240000</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12/22/2025</a:t>
                      </a:r>
                    </a:p>
                  </a:txBody>
                  <a:tcPr marL="9525" marR="9525" marT="9525" marB="0" anchor="b"/>
                </a:tc>
                <a:extLst>
                  <a:ext uri="{0D108BD9-81ED-4DB2-BD59-A6C34878D82A}">
                    <a16:rowId xmlns:a16="http://schemas.microsoft.com/office/drawing/2014/main" val="1815843932"/>
                  </a:ext>
                </a:extLst>
              </a:tr>
              <a:tr h="377854">
                <a:tc>
                  <a:txBody>
                    <a:bodyPr/>
                    <a:lstStyle/>
                    <a:p>
                      <a:pPr algn="l" fontAlgn="b">
                        <a:buNone/>
                      </a:pPr>
                      <a:r>
                        <a:rPr lang="en-US" sz="1100" b="0" i="0" u="none" strike="noStrike" dirty="0">
                          <a:solidFill>
                            <a:srgbClr val="000000"/>
                          </a:solidFill>
                          <a:effectLst/>
                          <a:latin typeface="Aptos Narrow" panose="020B0004020202020204" pitchFamily="34" charset="0"/>
                        </a:rPr>
                        <a:t>104 Whirling Eddy </a:t>
                      </a:r>
                      <a:r>
                        <a:rPr lang="en-US" sz="1100" b="0" i="0" u="none" strike="noStrike" dirty="0" err="1">
                          <a:solidFill>
                            <a:srgbClr val="000000"/>
                          </a:solidFill>
                          <a:effectLst/>
                          <a:latin typeface="Aptos Narrow" panose="020B0004020202020204" pitchFamily="34" charset="0"/>
                        </a:rPr>
                        <a:t>Cv</a:t>
                      </a:r>
                      <a:r>
                        <a:rPr lang="en-US" sz="1100" b="0" i="0" u="none" strike="noStrike" dirty="0">
                          <a:solidFill>
                            <a:srgbClr val="000000"/>
                          </a:solidFill>
                          <a:effectLst/>
                          <a:latin typeface="Aptos Narrow" panose="020B0004020202020204" pitchFamily="34" charset="0"/>
                        </a:rPr>
                        <a:t>,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305160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333994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155.08</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320000</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310000</a:t>
                      </a: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extLst>
                  <a:ext uri="{0D108BD9-81ED-4DB2-BD59-A6C34878D82A}">
                    <a16:rowId xmlns:a16="http://schemas.microsoft.com/office/drawing/2014/main" val="2731549367"/>
                  </a:ext>
                </a:extLst>
              </a:tr>
              <a:tr h="377854">
                <a:tc>
                  <a:txBody>
                    <a:bodyPr/>
                    <a:lstStyle/>
                    <a:p>
                      <a:pPr algn="l" fontAlgn="b">
                        <a:buNone/>
                      </a:pPr>
                      <a:r>
                        <a:rPr lang="en-US" sz="1100" b="0" i="0" u="none" strike="noStrike" dirty="0">
                          <a:solidFill>
                            <a:srgbClr val="000000"/>
                          </a:solidFill>
                          <a:effectLst/>
                          <a:latin typeface="Aptos Narrow" panose="020B0004020202020204" pitchFamily="34" charset="0"/>
                        </a:rPr>
                        <a:t>111 S Creek Bend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2012</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318557</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350343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132.26</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319900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299000</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295000</a:t>
                      </a: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12/5/2025</a:t>
                      </a:r>
                    </a:p>
                  </a:txBody>
                  <a:tcPr marL="9525" marR="9525" marT="9525" marB="0" anchor="b"/>
                </a:tc>
                <a:extLst>
                  <a:ext uri="{0D108BD9-81ED-4DB2-BD59-A6C34878D82A}">
                    <a16:rowId xmlns:a16="http://schemas.microsoft.com/office/drawing/2014/main" val="2763984890"/>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113 Rochester Ln,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2020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355387</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381738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174.48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350000</a:t>
                      </a: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12/10/2025</a:t>
                      </a:r>
                    </a:p>
                  </a:txBody>
                  <a:tcPr marL="9525" marR="9525" marT="9525" marB="0" anchor="b"/>
                </a:tc>
                <a:extLst>
                  <a:ext uri="{0D108BD9-81ED-4DB2-BD59-A6C34878D82A}">
                    <a16:rowId xmlns:a16="http://schemas.microsoft.com/office/drawing/2014/main" val="3448139037"/>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114 Almquist St,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300396</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333931</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143.7</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315500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305500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305500</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299900</a:t>
                      </a: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extLst>
                  <a:ext uri="{0D108BD9-81ED-4DB2-BD59-A6C34878D82A}">
                    <a16:rowId xmlns:a16="http://schemas.microsoft.com/office/drawing/2014/main" val="4017296377"/>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114 Brown St,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290936</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329105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148.1</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330000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310000</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295900</a:t>
                      </a: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extLst>
                  <a:ext uri="{0D108BD9-81ED-4DB2-BD59-A6C34878D82A}">
                    <a16:rowId xmlns:a16="http://schemas.microsoft.com/office/drawing/2014/main" val="3426671939"/>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120 Wegstrom St,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2004</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284149</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315140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146.54</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319000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315000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279999</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259999</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11/25/2025</a:t>
                      </a:r>
                    </a:p>
                  </a:txBody>
                  <a:tcPr marL="9525" marR="9525" marT="9525" marB="0" anchor="b"/>
                </a:tc>
                <a:extLst>
                  <a:ext uri="{0D108BD9-81ED-4DB2-BD59-A6C34878D82A}">
                    <a16:rowId xmlns:a16="http://schemas.microsoft.com/office/drawing/2014/main" val="1456053924"/>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122 Mossy Rock Cv,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2007</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351202</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379958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137.89</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365000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359900</a:t>
                      </a: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extLst>
                  <a:ext uri="{0D108BD9-81ED-4DB2-BD59-A6C34878D82A}">
                    <a16:rowId xmlns:a16="http://schemas.microsoft.com/office/drawing/2014/main" val="154576843"/>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205 Stewart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274147</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340703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139.85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289000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279000</a:t>
                      </a: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extLst>
                  <a:ext uri="{0D108BD9-81ED-4DB2-BD59-A6C34878D82A}">
                    <a16:rowId xmlns:a16="http://schemas.microsoft.com/office/drawing/2014/main" val="3552446063"/>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207 Janis Mae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326700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335178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158.24</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335000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325000</a:t>
                      </a: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10/30/2025</a:t>
                      </a:r>
                    </a:p>
                  </a:txBody>
                  <a:tcPr marL="9525" marR="9525" marT="9525" marB="0" anchor="b"/>
                </a:tc>
                <a:extLst>
                  <a:ext uri="{0D108BD9-81ED-4DB2-BD59-A6C34878D82A}">
                    <a16:rowId xmlns:a16="http://schemas.microsoft.com/office/drawing/2014/main" val="1627403315"/>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210 Rinehardt St,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292939</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305774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187.67</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299000</a:t>
                      </a: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6/16/2025</a:t>
                      </a:r>
                    </a:p>
                  </a:txBody>
                  <a:tcPr marL="9525" marR="9525" marT="9525" marB="0" anchor="b"/>
                </a:tc>
                <a:extLst>
                  <a:ext uri="{0D108BD9-81ED-4DB2-BD59-A6C34878D82A}">
                    <a16:rowId xmlns:a16="http://schemas.microsoft.com/office/drawing/2014/main" val="3479644164"/>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213 Bent Creek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2021</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321987</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342507</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154.92</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325000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299000</a:t>
                      </a: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extLst>
                  <a:ext uri="{0D108BD9-81ED-4DB2-BD59-A6C34878D82A}">
                    <a16:rowId xmlns:a16="http://schemas.microsoft.com/office/drawing/2014/main" val="3553457661"/>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223 Warner Bnd,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2001</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316449</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343583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140.14</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280000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270000</a:t>
                      </a: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extLst>
                  <a:ext uri="{0D108BD9-81ED-4DB2-BD59-A6C34878D82A}">
                    <a16:rowId xmlns:a16="http://schemas.microsoft.com/office/drawing/2014/main" val="858604901"/>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451 Swenson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2006</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345530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351667</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115.65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340000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300000</a:t>
                      </a: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10/30/2025</a:t>
                      </a:r>
                    </a:p>
                  </a:txBody>
                  <a:tcPr marL="9525" marR="9525" marT="9525" marB="0" anchor="b"/>
                </a:tc>
                <a:extLst>
                  <a:ext uri="{0D108BD9-81ED-4DB2-BD59-A6C34878D82A}">
                    <a16:rowId xmlns:a16="http://schemas.microsoft.com/office/drawing/2014/main" val="95228064"/>
                  </a:ext>
                </a:extLst>
              </a:tr>
              <a:tr h="377854">
                <a:tc>
                  <a:txBody>
                    <a:bodyPr/>
                    <a:lstStyle/>
                    <a:p>
                      <a:pPr algn="l" fontAlgn="b">
                        <a:buNone/>
                      </a:pPr>
                      <a:r>
                        <a:rPr lang="en-US" sz="1100" b="0" i="0" u="none" strike="noStrike">
                          <a:solidFill>
                            <a:srgbClr val="000000"/>
                          </a:solidFill>
                          <a:effectLst/>
                          <a:latin typeface="Aptos Narrow" panose="020B0004020202020204" pitchFamily="34" charset="0"/>
                        </a:rPr>
                        <a:t>506 Carol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340766</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356356</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162.58</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334999</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320000</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314999</a:t>
                      </a: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11/15/2025</a:t>
                      </a:r>
                    </a:p>
                  </a:txBody>
                  <a:tcPr marL="9525" marR="9525" marT="9525" marB="0" anchor="b"/>
                </a:tc>
                <a:extLst>
                  <a:ext uri="{0D108BD9-81ED-4DB2-BD59-A6C34878D82A}">
                    <a16:rowId xmlns:a16="http://schemas.microsoft.com/office/drawing/2014/main" val="1338923740"/>
                  </a:ext>
                </a:extLst>
              </a:tr>
              <a:tr h="194004">
                <a:tc>
                  <a:txBody>
                    <a:bodyPr/>
                    <a:lstStyle/>
                    <a:p>
                      <a:pPr algn="l" fontAlgn="b">
                        <a:buNone/>
                      </a:pPr>
                      <a:r>
                        <a:rPr lang="en-US" sz="1100" b="0" i="0" u="none" strike="noStrike">
                          <a:solidFill>
                            <a:srgbClr val="000000"/>
                          </a:solidFill>
                          <a:effectLst/>
                          <a:latin typeface="Aptos Narrow" panose="020B0004020202020204" pitchFamily="34" charset="0"/>
                        </a:rPr>
                        <a:t>918 Estate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314368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324617</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152.98</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299998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289000</a:t>
                      </a: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extLst>
                  <a:ext uri="{0D108BD9-81ED-4DB2-BD59-A6C34878D82A}">
                    <a16:rowId xmlns:a16="http://schemas.microsoft.com/office/drawing/2014/main" val="1743508429"/>
                  </a:ext>
                </a:extLst>
              </a:tr>
              <a:tr h="377854">
                <a:tc>
                  <a:txBody>
                    <a:bodyPr/>
                    <a:lstStyle/>
                    <a:p>
                      <a:pPr algn="l" fontAlgn="b">
                        <a:buNone/>
                      </a:pPr>
                      <a:r>
                        <a:rPr lang="en-US" sz="1100" b="0" i="0" u="none" strike="noStrike" dirty="0">
                          <a:solidFill>
                            <a:srgbClr val="000000"/>
                          </a:solidFill>
                          <a:effectLst/>
                          <a:latin typeface="Aptos Narrow" panose="020B0004020202020204" pitchFamily="34" charset="0"/>
                        </a:rPr>
                        <a:t>1006 Pembroke Ct, Hutto, TX 78634</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2019</a:t>
                      </a:r>
                    </a:p>
                  </a:txBody>
                  <a:tcPr marL="9525" marR="9525" marT="9525" marB="0" anchor="b"/>
                </a:tc>
                <a:tc>
                  <a:txBody>
                    <a:bodyPr/>
                    <a:lstStyle/>
                    <a:p>
                      <a:pPr algn="l" fontAlgn="b">
                        <a:buNone/>
                      </a:pPr>
                      <a:r>
                        <a:rPr lang="en-US" sz="1100" b="0" i="0" u="none" strike="noStrike" dirty="0">
                          <a:solidFill>
                            <a:srgbClr val="000000"/>
                          </a:solidFill>
                          <a:effectLst/>
                          <a:latin typeface="Aptos Narrow" panose="020B0004020202020204" pitchFamily="34" charset="0"/>
                        </a:rPr>
                        <a:t>N/A</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385610</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165.84</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345000</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335000</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329900</a:t>
                      </a: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11/19/2025</a:t>
                      </a:r>
                    </a:p>
                  </a:txBody>
                  <a:tcPr marL="9525" marR="9525" marT="9525" marB="0" anchor="b"/>
                </a:tc>
                <a:extLst>
                  <a:ext uri="{0D108BD9-81ED-4DB2-BD59-A6C34878D82A}">
                    <a16:rowId xmlns:a16="http://schemas.microsoft.com/office/drawing/2014/main" val="1227910209"/>
                  </a:ext>
                </a:extLst>
              </a:tr>
            </a:tbl>
          </a:graphicData>
        </a:graphic>
      </p:graphicFrame>
    </p:spTree>
    <p:extLst>
      <p:ext uri="{BB962C8B-B14F-4D97-AF65-F5344CB8AC3E}">
        <p14:creationId xmlns:p14="http://schemas.microsoft.com/office/powerpoint/2010/main" val="1136597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B632A-355A-63AA-2E52-F55DA7F5E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B053D-74E5-4A56-FE58-F5658A7A8C87}"/>
              </a:ext>
            </a:extLst>
          </p:cNvPr>
          <p:cNvSpPr>
            <a:spLocks noGrp="1"/>
          </p:cNvSpPr>
          <p:nvPr>
            <p:ph type="title"/>
          </p:nvPr>
        </p:nvSpPr>
        <p:spPr/>
        <p:txBody>
          <a:bodyPr/>
          <a:lstStyle/>
          <a:p>
            <a:r>
              <a:rPr lang="en-US" dirty="0"/>
              <a:t>Average 2025 Housing Market</a:t>
            </a:r>
          </a:p>
        </p:txBody>
      </p:sp>
      <p:graphicFrame>
        <p:nvGraphicFramePr>
          <p:cNvPr id="5" name="Content Placeholder 4">
            <a:extLst>
              <a:ext uri="{FF2B5EF4-FFF2-40B4-BE49-F238E27FC236}">
                <a16:creationId xmlns:a16="http://schemas.microsoft.com/office/drawing/2014/main" id="{2D6E3A1E-129A-B039-A19D-E92361D54F12}"/>
              </a:ext>
            </a:extLst>
          </p:cNvPr>
          <p:cNvGraphicFramePr>
            <a:graphicFrameLocks noGrp="1"/>
          </p:cNvGraphicFramePr>
          <p:nvPr>
            <p:ph idx="1"/>
            <p:extLst>
              <p:ext uri="{D42A27DB-BD31-4B8C-83A1-F6EECF244321}">
                <p14:modId xmlns:p14="http://schemas.microsoft.com/office/powerpoint/2010/main" val="4049380280"/>
              </p:ext>
            </p:extLst>
          </p:nvPr>
        </p:nvGraphicFramePr>
        <p:xfrm>
          <a:off x="0" y="5134"/>
          <a:ext cx="12192001" cy="6852869"/>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169913224"/>
                    </a:ext>
                  </a:extLst>
                </a:gridCol>
                <a:gridCol w="1092200">
                  <a:extLst>
                    <a:ext uri="{9D8B030D-6E8A-4147-A177-3AD203B41FA5}">
                      <a16:colId xmlns:a16="http://schemas.microsoft.com/office/drawing/2014/main" val="250676537"/>
                    </a:ext>
                  </a:extLst>
                </a:gridCol>
                <a:gridCol w="1549400">
                  <a:extLst>
                    <a:ext uri="{9D8B030D-6E8A-4147-A177-3AD203B41FA5}">
                      <a16:colId xmlns:a16="http://schemas.microsoft.com/office/drawing/2014/main" val="4277830208"/>
                    </a:ext>
                  </a:extLst>
                </a:gridCol>
                <a:gridCol w="2679700">
                  <a:extLst>
                    <a:ext uri="{9D8B030D-6E8A-4147-A177-3AD203B41FA5}">
                      <a16:colId xmlns:a16="http://schemas.microsoft.com/office/drawing/2014/main" val="2291355531"/>
                    </a:ext>
                  </a:extLst>
                </a:gridCol>
                <a:gridCol w="2120900">
                  <a:extLst>
                    <a:ext uri="{9D8B030D-6E8A-4147-A177-3AD203B41FA5}">
                      <a16:colId xmlns:a16="http://schemas.microsoft.com/office/drawing/2014/main" val="4127173591"/>
                    </a:ext>
                  </a:extLst>
                </a:gridCol>
                <a:gridCol w="2552701">
                  <a:extLst>
                    <a:ext uri="{9D8B030D-6E8A-4147-A177-3AD203B41FA5}">
                      <a16:colId xmlns:a16="http://schemas.microsoft.com/office/drawing/2014/main" val="2113002554"/>
                    </a:ext>
                  </a:extLst>
                </a:gridCol>
              </a:tblGrid>
              <a:tr h="443146">
                <a:tc>
                  <a:txBody>
                    <a:bodyPr/>
                    <a:lstStyle/>
                    <a:p>
                      <a:pPr algn="ctr" fontAlgn="b">
                        <a:buNone/>
                      </a:pPr>
                      <a:r>
                        <a:rPr lang="en-US" sz="1400" b="0" i="0" u="none" strike="noStrike" dirty="0">
                          <a:solidFill>
                            <a:srgbClr val="000000"/>
                          </a:solidFill>
                          <a:effectLst/>
                          <a:latin typeface="Aptos Narrow" panose="020B0004020202020204" pitchFamily="34" charset="0"/>
                        </a:rPr>
                        <a:t>address</a:t>
                      </a:r>
                    </a:p>
                  </a:txBody>
                  <a:tcPr marL="9525" marR="9525" marT="9525" marB="0" anchor="b"/>
                </a:tc>
                <a:tc>
                  <a:txBody>
                    <a:bodyPr/>
                    <a:lstStyle/>
                    <a:p>
                      <a:pPr algn="ctr" fontAlgn="b">
                        <a:buNone/>
                      </a:pPr>
                      <a:r>
                        <a:rPr lang="en-US" sz="1400" b="0" i="0" u="none" strike="noStrike" dirty="0" err="1">
                          <a:solidFill>
                            <a:srgbClr val="000000"/>
                          </a:solidFill>
                          <a:effectLst/>
                          <a:latin typeface="Aptos Narrow" panose="020B0004020202020204" pitchFamily="34" charset="0"/>
                        </a:rPr>
                        <a:t>year_built</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400" b="0" i="0" u="none" strike="noStrike" dirty="0" err="1">
                          <a:solidFill>
                            <a:srgbClr val="000000"/>
                          </a:solidFill>
                          <a:effectLst/>
                          <a:latin typeface="Aptos Narrow" panose="020B0004020202020204" pitchFamily="34" charset="0"/>
                        </a:rPr>
                        <a:t>initial_ppsf</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400" b="0" i="0" u="none" strike="noStrike" dirty="0" err="1">
                          <a:solidFill>
                            <a:srgbClr val="000000"/>
                          </a:solidFill>
                          <a:effectLst/>
                          <a:latin typeface="Aptos Narrow" panose="020B0004020202020204" pitchFamily="34" charset="0"/>
                        </a:rPr>
                        <a:t>latest_ppsf</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400" b="0" i="0" u="none" strike="noStrike" dirty="0" err="1">
                          <a:solidFill>
                            <a:srgbClr val="000000"/>
                          </a:solidFill>
                          <a:effectLst/>
                          <a:latin typeface="Aptos Narrow" panose="020B0004020202020204" pitchFamily="34" charset="0"/>
                        </a:rPr>
                        <a:t>latest_date</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400" b="0" i="0" u="none" strike="noStrike" dirty="0" err="1">
                          <a:solidFill>
                            <a:srgbClr val="000000"/>
                          </a:solidFill>
                          <a:effectLst/>
                          <a:latin typeface="Aptos Narrow" panose="020B0004020202020204" pitchFamily="34" charset="0"/>
                        </a:rPr>
                        <a:t>days_on_market</a:t>
                      </a:r>
                      <a:endParaRPr lang="en-US" sz="14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39490893"/>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100 Quarton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2018</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179.58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173.57</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11/4/2025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68</a:t>
                      </a:r>
                    </a:p>
                  </a:txBody>
                  <a:tcPr marL="9525" marR="9525" marT="9525" marB="0" anchor="b"/>
                </a:tc>
                <a:extLst>
                  <a:ext uri="{0D108BD9-81ED-4DB2-BD59-A6C34878D82A}">
                    <a16:rowId xmlns:a16="http://schemas.microsoft.com/office/drawing/2014/main" val="3778502439"/>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102 Quail Hollow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142.78</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129.31</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12/22/2025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156</a:t>
                      </a:r>
                    </a:p>
                  </a:txBody>
                  <a:tcPr marL="9525" marR="9525" marT="9525" marB="0" anchor="b"/>
                </a:tc>
                <a:extLst>
                  <a:ext uri="{0D108BD9-81ED-4DB2-BD59-A6C34878D82A}">
                    <a16:rowId xmlns:a16="http://schemas.microsoft.com/office/drawing/2014/main" val="1815843932"/>
                  </a:ext>
                </a:extLst>
              </a:tr>
              <a:tr h="356439">
                <a:tc>
                  <a:txBody>
                    <a:bodyPr/>
                    <a:lstStyle/>
                    <a:p>
                      <a:pPr algn="l" fontAlgn="b">
                        <a:buNone/>
                      </a:pPr>
                      <a:r>
                        <a:rPr lang="en-US" sz="1100" b="0" i="0" u="none" strike="noStrike" dirty="0">
                          <a:solidFill>
                            <a:srgbClr val="000000"/>
                          </a:solidFill>
                          <a:effectLst/>
                          <a:latin typeface="Aptos Narrow" panose="020B0004020202020204" pitchFamily="34" charset="0"/>
                        </a:rPr>
                        <a:t>104 Whirling Eddy </a:t>
                      </a:r>
                      <a:r>
                        <a:rPr lang="en-US" sz="1100" b="0" i="0" u="none" strike="noStrike" dirty="0" err="1">
                          <a:solidFill>
                            <a:srgbClr val="000000"/>
                          </a:solidFill>
                          <a:effectLst/>
                          <a:latin typeface="Aptos Narrow" panose="020B0004020202020204" pitchFamily="34" charset="0"/>
                        </a:rPr>
                        <a:t>Cv</a:t>
                      </a:r>
                      <a:r>
                        <a:rPr lang="en-US" sz="1100" b="0" i="0" u="none" strike="noStrike" dirty="0">
                          <a:solidFill>
                            <a:srgbClr val="000000"/>
                          </a:solidFill>
                          <a:effectLst/>
                          <a:latin typeface="Aptos Narrow" panose="020B0004020202020204" pitchFamily="34" charset="0"/>
                        </a:rPr>
                        <a:t>,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2003</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155.08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155.08</a:t>
                      </a: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159</a:t>
                      </a:r>
                    </a:p>
                  </a:txBody>
                  <a:tcPr marL="9525" marR="9525" marT="9525" marB="0" anchor="b"/>
                </a:tc>
                <a:extLst>
                  <a:ext uri="{0D108BD9-81ED-4DB2-BD59-A6C34878D82A}">
                    <a16:rowId xmlns:a16="http://schemas.microsoft.com/office/drawing/2014/main" val="2731549367"/>
                  </a:ext>
                </a:extLst>
              </a:tr>
              <a:tr h="356439">
                <a:tc>
                  <a:txBody>
                    <a:bodyPr/>
                    <a:lstStyle/>
                    <a:p>
                      <a:pPr algn="l" fontAlgn="b">
                        <a:buNone/>
                      </a:pPr>
                      <a:r>
                        <a:rPr lang="en-US" sz="1100" b="0" i="0" u="none" strike="noStrike" dirty="0">
                          <a:solidFill>
                            <a:srgbClr val="000000"/>
                          </a:solidFill>
                          <a:effectLst/>
                          <a:latin typeface="Aptos Narrow" panose="020B0004020202020204" pitchFamily="34" charset="0"/>
                        </a:rPr>
                        <a:t>111 S Creek Bend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2012</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132.26</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132.26</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12/5/2025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128</a:t>
                      </a:r>
                    </a:p>
                  </a:txBody>
                  <a:tcPr marL="9525" marR="9525" marT="9525" marB="0" anchor="b"/>
                </a:tc>
                <a:extLst>
                  <a:ext uri="{0D108BD9-81ED-4DB2-BD59-A6C34878D82A}">
                    <a16:rowId xmlns:a16="http://schemas.microsoft.com/office/drawing/2014/main" val="2763984890"/>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113 Rochester Ln, Hutto, TX 78634</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2020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174.48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174.48</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12/10/2025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149</a:t>
                      </a:r>
                    </a:p>
                  </a:txBody>
                  <a:tcPr marL="9525" marR="9525" marT="9525" marB="0" anchor="b"/>
                </a:tc>
                <a:extLst>
                  <a:ext uri="{0D108BD9-81ED-4DB2-BD59-A6C34878D82A}">
                    <a16:rowId xmlns:a16="http://schemas.microsoft.com/office/drawing/2014/main" val="3448139037"/>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114 Almquist St,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143.7</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143.7</a:t>
                      </a: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153</a:t>
                      </a:r>
                    </a:p>
                  </a:txBody>
                  <a:tcPr marL="9525" marR="9525" marT="9525" marB="0" anchor="b"/>
                </a:tc>
                <a:extLst>
                  <a:ext uri="{0D108BD9-81ED-4DB2-BD59-A6C34878D82A}">
                    <a16:rowId xmlns:a16="http://schemas.microsoft.com/office/drawing/2014/main" val="4017296377"/>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114 Brown St,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148.1</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148.1</a:t>
                      </a: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184</a:t>
                      </a:r>
                    </a:p>
                  </a:txBody>
                  <a:tcPr marL="9525" marR="9525" marT="9525" marB="0" anchor="b"/>
                </a:tc>
                <a:extLst>
                  <a:ext uri="{0D108BD9-81ED-4DB2-BD59-A6C34878D82A}">
                    <a16:rowId xmlns:a16="http://schemas.microsoft.com/office/drawing/2014/main" val="3426671939"/>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120 Wegstrom St,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146.54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131.38</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11/25/2025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180</a:t>
                      </a:r>
                    </a:p>
                  </a:txBody>
                  <a:tcPr marL="9525" marR="9525" marT="9525" marB="0" anchor="b"/>
                </a:tc>
                <a:extLst>
                  <a:ext uri="{0D108BD9-81ED-4DB2-BD59-A6C34878D82A}">
                    <a16:rowId xmlns:a16="http://schemas.microsoft.com/office/drawing/2014/main" val="1456053924"/>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122 Mossy Rock Cv,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2007</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137.89</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137.89</a:t>
                      </a: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72</a:t>
                      </a:r>
                    </a:p>
                  </a:txBody>
                  <a:tcPr marL="9525" marR="9525" marT="9525" marB="0" anchor="b"/>
                </a:tc>
                <a:extLst>
                  <a:ext uri="{0D108BD9-81ED-4DB2-BD59-A6C34878D82A}">
                    <a16:rowId xmlns:a16="http://schemas.microsoft.com/office/drawing/2014/main" val="154576843"/>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205 Stewart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139.85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139.85</a:t>
                      </a: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124</a:t>
                      </a:r>
                    </a:p>
                  </a:txBody>
                  <a:tcPr marL="9525" marR="9525" marT="9525" marB="0" anchor="b"/>
                </a:tc>
                <a:extLst>
                  <a:ext uri="{0D108BD9-81ED-4DB2-BD59-A6C34878D82A}">
                    <a16:rowId xmlns:a16="http://schemas.microsoft.com/office/drawing/2014/main" val="3552446063"/>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207 Janis Mae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2000</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158.24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158.24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10/30/2025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17</a:t>
                      </a:r>
                    </a:p>
                  </a:txBody>
                  <a:tcPr marL="9525" marR="9525" marT="9525" marB="0" anchor="b"/>
                </a:tc>
                <a:extLst>
                  <a:ext uri="{0D108BD9-81ED-4DB2-BD59-A6C34878D82A}">
                    <a16:rowId xmlns:a16="http://schemas.microsoft.com/office/drawing/2014/main" val="1627403315"/>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210 Rinehardt St,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2003</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187.67</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187.67</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6/16/2025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7</a:t>
                      </a:r>
                    </a:p>
                  </a:txBody>
                  <a:tcPr marL="9525" marR="9525" marT="9525" marB="0" anchor="b"/>
                </a:tc>
                <a:extLst>
                  <a:ext uri="{0D108BD9-81ED-4DB2-BD59-A6C34878D82A}">
                    <a16:rowId xmlns:a16="http://schemas.microsoft.com/office/drawing/2014/main" val="3479644164"/>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213 Bent Creek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2021</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154.92</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154.92</a:t>
                      </a: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158</a:t>
                      </a:r>
                    </a:p>
                  </a:txBody>
                  <a:tcPr marL="9525" marR="9525" marT="9525" marB="0" anchor="b"/>
                </a:tc>
                <a:extLst>
                  <a:ext uri="{0D108BD9-81ED-4DB2-BD59-A6C34878D82A}">
                    <a16:rowId xmlns:a16="http://schemas.microsoft.com/office/drawing/2014/main" val="3553457661"/>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223 Warner Bnd,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2001</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140.14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135.14</a:t>
                      </a: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38</a:t>
                      </a:r>
                    </a:p>
                  </a:txBody>
                  <a:tcPr marL="9525" marR="9525" marT="9525" marB="0" anchor="b"/>
                </a:tc>
                <a:extLst>
                  <a:ext uri="{0D108BD9-81ED-4DB2-BD59-A6C34878D82A}">
                    <a16:rowId xmlns:a16="http://schemas.microsoft.com/office/drawing/2014/main" val="858604901"/>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451 Swenson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2006</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115.65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115.65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10/30/2025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105</a:t>
                      </a:r>
                    </a:p>
                  </a:txBody>
                  <a:tcPr marL="9525" marR="9525" marT="9525" marB="0" anchor="b"/>
                </a:tc>
                <a:extLst>
                  <a:ext uri="{0D108BD9-81ED-4DB2-BD59-A6C34878D82A}">
                    <a16:rowId xmlns:a16="http://schemas.microsoft.com/office/drawing/2014/main" val="95228064"/>
                  </a:ext>
                </a:extLst>
              </a:tr>
              <a:tr h="356439">
                <a:tc>
                  <a:txBody>
                    <a:bodyPr/>
                    <a:lstStyle/>
                    <a:p>
                      <a:pPr algn="l" fontAlgn="b">
                        <a:buNone/>
                      </a:pPr>
                      <a:r>
                        <a:rPr lang="en-US" sz="1100" b="0" i="0" u="none" strike="noStrike">
                          <a:solidFill>
                            <a:srgbClr val="000000"/>
                          </a:solidFill>
                          <a:effectLst/>
                          <a:latin typeface="Aptos Narrow" panose="020B0004020202020204" pitchFamily="34" charset="0"/>
                        </a:rPr>
                        <a:t>506 Carol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162.58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157.58</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11/15/2025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3/8/1900</a:t>
                      </a:r>
                    </a:p>
                  </a:txBody>
                  <a:tcPr marL="9525" marR="9525" marT="9525" marB="0" anchor="b"/>
                </a:tc>
                <a:extLst>
                  <a:ext uri="{0D108BD9-81ED-4DB2-BD59-A6C34878D82A}">
                    <a16:rowId xmlns:a16="http://schemas.microsoft.com/office/drawing/2014/main" val="1338923740"/>
                  </a:ext>
                </a:extLst>
              </a:tr>
              <a:tr h="350260">
                <a:tc>
                  <a:txBody>
                    <a:bodyPr/>
                    <a:lstStyle/>
                    <a:p>
                      <a:pPr algn="l" fontAlgn="b">
                        <a:buNone/>
                      </a:pPr>
                      <a:r>
                        <a:rPr lang="en-US" sz="1100" b="0" i="0" u="none" strike="noStrike">
                          <a:solidFill>
                            <a:srgbClr val="000000"/>
                          </a:solidFill>
                          <a:effectLst/>
                          <a:latin typeface="Aptos Narrow" panose="020B0004020202020204" pitchFamily="34" charset="0"/>
                        </a:rPr>
                        <a:t>918 Estate Dr, Hutto, TX 78634</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2005</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152.98</a:t>
                      </a:r>
                    </a:p>
                  </a:txBody>
                  <a:tcPr marL="9525" marR="9525" marT="9525" marB="0" anchor="b"/>
                </a:tc>
                <a:tc>
                  <a:txBody>
                    <a:bodyPr/>
                    <a:lstStyle/>
                    <a:p>
                      <a:pPr algn="r" fontAlgn="b">
                        <a:buNone/>
                      </a:pPr>
                      <a:r>
                        <a:rPr lang="en-US" sz="1100" b="0" i="0" u="none" strike="noStrike">
                          <a:solidFill>
                            <a:srgbClr val="000000"/>
                          </a:solidFill>
                          <a:effectLst/>
                          <a:latin typeface="Aptos Narrow" panose="020B0004020202020204" pitchFamily="34" charset="0"/>
                        </a:rPr>
                        <a:t>152.98</a:t>
                      </a:r>
                    </a:p>
                  </a:txBody>
                  <a:tcPr marL="9525" marR="9525" marT="9525" marB="0" anchor="b"/>
                </a:tc>
                <a:tc>
                  <a:txBody>
                    <a:bodyPr/>
                    <a:lstStyle/>
                    <a:p>
                      <a:pPr algn="r" fontAlgn="b">
                        <a:buNone/>
                      </a:pPr>
                      <a:r>
                        <a:rPr lang="en-US" sz="1100" b="0" i="0" u="none" strike="noStrike" dirty="0">
                          <a:solidFill>
                            <a:srgbClr val="000000"/>
                          </a:solidFill>
                          <a:effectLst/>
                          <a:highlight>
                            <a:srgbClr val="FFFF00"/>
                          </a:highlight>
                          <a:latin typeface="Aptos Narrow" panose="020B0004020202020204" pitchFamily="34" charset="0"/>
                        </a:rPr>
                        <a:t>12/31/2025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50</a:t>
                      </a:r>
                    </a:p>
                  </a:txBody>
                  <a:tcPr marL="9525" marR="9525" marT="9525" marB="0" anchor="b"/>
                </a:tc>
                <a:extLst>
                  <a:ext uri="{0D108BD9-81ED-4DB2-BD59-A6C34878D82A}">
                    <a16:rowId xmlns:a16="http://schemas.microsoft.com/office/drawing/2014/main" val="1743508429"/>
                  </a:ext>
                </a:extLst>
              </a:tr>
              <a:tr h="356439">
                <a:tc>
                  <a:txBody>
                    <a:bodyPr/>
                    <a:lstStyle/>
                    <a:p>
                      <a:pPr algn="l" fontAlgn="b">
                        <a:buNone/>
                      </a:pPr>
                      <a:r>
                        <a:rPr lang="en-US" sz="1100" b="0" i="0" u="none" strike="noStrike" dirty="0">
                          <a:solidFill>
                            <a:srgbClr val="000000"/>
                          </a:solidFill>
                          <a:effectLst/>
                          <a:latin typeface="Aptos Narrow" panose="020B0004020202020204" pitchFamily="34" charset="0"/>
                        </a:rPr>
                        <a:t>1006 Pembroke Ct, Hutto, TX 78634</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2019</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165.84</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165.84</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11/19/2025</a:t>
                      </a:r>
                    </a:p>
                  </a:txBody>
                  <a:tcPr marL="9525" marR="9525" marT="9525"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1/23/1900</a:t>
                      </a:r>
                    </a:p>
                  </a:txBody>
                  <a:tcPr marL="9525" marR="9525" marT="9525" marB="0" anchor="b"/>
                </a:tc>
                <a:extLst>
                  <a:ext uri="{0D108BD9-81ED-4DB2-BD59-A6C34878D82A}">
                    <a16:rowId xmlns:a16="http://schemas.microsoft.com/office/drawing/2014/main" val="1227910209"/>
                  </a:ext>
                </a:extLst>
              </a:tr>
            </a:tbl>
          </a:graphicData>
        </a:graphic>
      </p:graphicFrame>
    </p:spTree>
    <p:extLst>
      <p:ext uri="{BB962C8B-B14F-4D97-AF65-F5344CB8AC3E}">
        <p14:creationId xmlns:p14="http://schemas.microsoft.com/office/powerpoint/2010/main" val="2248677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7CD74A1-9083-5E00-230C-81C9EC5B4C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465365"/>
            <a:ext cx="5693770" cy="4870816"/>
          </a:xfrm>
          <a:prstGeom prst="rect">
            <a:avLst/>
          </a:prstGeom>
        </p:spPr>
      </p:pic>
      <p:sp>
        <p:nvSpPr>
          <p:cNvPr id="2" name="TextBox 1">
            <a:extLst>
              <a:ext uri="{FF2B5EF4-FFF2-40B4-BE49-F238E27FC236}">
                <a16:creationId xmlns:a16="http://schemas.microsoft.com/office/drawing/2014/main" id="{CAF56C1F-C0AF-0659-DD85-726C40CE2CBE}"/>
              </a:ext>
            </a:extLst>
          </p:cNvPr>
          <p:cNvSpPr txBox="1"/>
          <p:nvPr/>
        </p:nvSpPr>
        <p:spPr>
          <a:xfrm>
            <a:off x="402230" y="375558"/>
            <a:ext cx="5955459" cy="1569660"/>
          </a:xfrm>
          <a:prstGeom prst="rect">
            <a:avLst/>
          </a:prstGeom>
          <a:noFill/>
        </p:spPr>
        <p:txBody>
          <a:bodyPr wrap="square">
            <a:spAutoFit/>
          </a:bodyPr>
          <a:lstStyle/>
          <a:p>
            <a:pPr marL="45720" indent="0">
              <a:buNone/>
            </a:pPr>
            <a:r>
              <a:rPr lang="en-US" sz="4800" dirty="0">
                <a:solidFill>
                  <a:schemeClr val="accent1"/>
                </a:solidFill>
              </a:rPr>
              <a:t>Dataset 1</a:t>
            </a:r>
          </a:p>
          <a:p>
            <a:pPr marL="45720" indent="0">
              <a:buNone/>
            </a:pPr>
            <a:endParaRPr lang="en-US" sz="4800" dirty="0"/>
          </a:p>
        </p:txBody>
      </p:sp>
      <p:sp>
        <p:nvSpPr>
          <p:cNvPr id="3" name="TextBox 2">
            <a:extLst>
              <a:ext uri="{FF2B5EF4-FFF2-40B4-BE49-F238E27FC236}">
                <a16:creationId xmlns:a16="http://schemas.microsoft.com/office/drawing/2014/main" id="{27901EDC-1485-43A7-8F80-429BA20D4E14}"/>
              </a:ext>
            </a:extLst>
          </p:cNvPr>
          <p:cNvSpPr txBox="1"/>
          <p:nvPr/>
        </p:nvSpPr>
        <p:spPr>
          <a:xfrm>
            <a:off x="402230" y="1388695"/>
            <a:ext cx="5955459" cy="2585323"/>
          </a:xfrm>
          <a:prstGeom prst="rect">
            <a:avLst/>
          </a:prstGeom>
          <a:noFill/>
        </p:spPr>
        <p:txBody>
          <a:bodyPr wrap="square">
            <a:spAutoFit/>
          </a:bodyPr>
          <a:lstStyle/>
          <a:p>
            <a:pPr marL="45720" indent="0">
              <a:buNone/>
            </a:pPr>
            <a:r>
              <a:rPr lang="en-US" dirty="0">
                <a:solidFill>
                  <a:schemeClr val="accent1"/>
                </a:solidFill>
              </a:rPr>
              <a:t>Dataset 1 hosts 18 properties</a:t>
            </a:r>
          </a:p>
          <a:p>
            <a:pPr marL="45720" indent="0">
              <a:buNone/>
            </a:pPr>
            <a:endParaRPr lang="en-US" dirty="0">
              <a:solidFill>
                <a:schemeClr val="accent1"/>
              </a:solidFill>
            </a:endParaRPr>
          </a:p>
          <a:p>
            <a:pPr marL="45720" indent="0">
              <a:buNone/>
            </a:pPr>
            <a:r>
              <a:rPr lang="en-US" dirty="0">
                <a:solidFill>
                  <a:schemeClr val="accent1"/>
                </a:solidFill>
              </a:rPr>
              <a:t>16 dropped in price</a:t>
            </a:r>
          </a:p>
          <a:p>
            <a:pPr marL="45720" indent="0">
              <a:buNone/>
            </a:pPr>
            <a:endParaRPr lang="en-US" dirty="0">
              <a:solidFill>
                <a:schemeClr val="accent1"/>
              </a:solidFill>
            </a:endParaRPr>
          </a:p>
          <a:p>
            <a:pPr marL="45720" indent="0">
              <a:buNone/>
            </a:pPr>
            <a:r>
              <a:rPr lang="en-US" dirty="0">
                <a:solidFill>
                  <a:schemeClr val="accent1"/>
                </a:solidFill>
              </a:rPr>
              <a:t>8 dropped in price with extended DOM</a:t>
            </a:r>
          </a:p>
          <a:p>
            <a:pPr marL="45720" indent="0">
              <a:buNone/>
            </a:pPr>
            <a:endParaRPr lang="en-US" dirty="0">
              <a:solidFill>
                <a:schemeClr val="accent1"/>
              </a:solidFill>
            </a:endParaRPr>
          </a:p>
          <a:p>
            <a:pPr marL="45720" indent="0">
              <a:buNone/>
            </a:pPr>
            <a:r>
              <a:rPr lang="en-US" dirty="0">
                <a:solidFill>
                  <a:schemeClr val="accent1"/>
                </a:solidFill>
              </a:rPr>
              <a:t>The average PPSF = $147.64</a:t>
            </a:r>
          </a:p>
          <a:p>
            <a:pPr marL="45720" indent="0">
              <a:buNone/>
            </a:pPr>
            <a:endParaRPr lang="en-US" dirty="0">
              <a:solidFill>
                <a:schemeClr val="accent1"/>
              </a:solidFill>
            </a:endParaRPr>
          </a:p>
          <a:p>
            <a:pPr marL="45720" indent="0">
              <a:buNone/>
            </a:pPr>
            <a:endParaRPr lang="en-US" dirty="0"/>
          </a:p>
        </p:txBody>
      </p:sp>
    </p:spTree>
    <p:extLst>
      <p:ext uri="{BB962C8B-B14F-4D97-AF65-F5344CB8AC3E}">
        <p14:creationId xmlns:p14="http://schemas.microsoft.com/office/powerpoint/2010/main" val="493978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ED558E-5FC7-B89D-6A1D-6182D5E765BF}"/>
              </a:ext>
            </a:extLst>
          </p:cNvPr>
          <p:cNvSpPr>
            <a:spLocks noGrp="1"/>
          </p:cNvSpPr>
          <p:nvPr>
            <p:ph idx="1"/>
          </p:nvPr>
        </p:nvSpPr>
        <p:spPr>
          <a:xfrm>
            <a:off x="402230" y="1177764"/>
            <a:ext cx="4171950" cy="4588330"/>
          </a:xfrm>
        </p:spPr>
        <p:txBody>
          <a:bodyPr/>
          <a:lstStyle/>
          <a:p>
            <a:pPr marL="45720" indent="0">
              <a:buNone/>
            </a:pPr>
            <a:r>
              <a:rPr lang="en-US" dirty="0"/>
              <a:t>Average $ decline per property was $21,039</a:t>
            </a:r>
          </a:p>
        </p:txBody>
      </p:sp>
      <p:pic>
        <p:nvPicPr>
          <p:cNvPr id="4" name="Content Placeholder 4">
            <a:extLst>
              <a:ext uri="{FF2B5EF4-FFF2-40B4-BE49-F238E27FC236}">
                <a16:creationId xmlns:a16="http://schemas.microsoft.com/office/drawing/2014/main" id="{C7C94EA1-ADDC-6D48-1582-947582ADC7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1" y="1434517"/>
            <a:ext cx="5659486" cy="3656762"/>
          </a:xfrm>
          <a:prstGeom prst="rect">
            <a:avLst/>
          </a:prstGeom>
        </p:spPr>
      </p:pic>
      <p:sp>
        <p:nvSpPr>
          <p:cNvPr id="6" name="TextBox 5">
            <a:extLst>
              <a:ext uri="{FF2B5EF4-FFF2-40B4-BE49-F238E27FC236}">
                <a16:creationId xmlns:a16="http://schemas.microsoft.com/office/drawing/2014/main" id="{426DBB00-172C-45FF-79BD-DF4AD1E5C3C0}"/>
              </a:ext>
            </a:extLst>
          </p:cNvPr>
          <p:cNvSpPr txBox="1"/>
          <p:nvPr/>
        </p:nvSpPr>
        <p:spPr>
          <a:xfrm>
            <a:off x="402230" y="375558"/>
            <a:ext cx="5955459" cy="1569660"/>
          </a:xfrm>
          <a:prstGeom prst="rect">
            <a:avLst/>
          </a:prstGeom>
          <a:noFill/>
        </p:spPr>
        <p:txBody>
          <a:bodyPr wrap="square">
            <a:spAutoFit/>
          </a:bodyPr>
          <a:lstStyle/>
          <a:p>
            <a:pPr marL="45720" indent="0">
              <a:buNone/>
            </a:pPr>
            <a:r>
              <a:rPr lang="en-US" sz="4800" dirty="0">
                <a:solidFill>
                  <a:schemeClr val="accent1"/>
                </a:solidFill>
              </a:rPr>
              <a:t>Dataset 1</a:t>
            </a:r>
          </a:p>
          <a:p>
            <a:pPr marL="45720" indent="0">
              <a:buNone/>
            </a:pPr>
            <a:endParaRPr lang="en-US" sz="4800" dirty="0"/>
          </a:p>
        </p:txBody>
      </p:sp>
    </p:spTree>
    <p:extLst>
      <p:ext uri="{BB962C8B-B14F-4D97-AF65-F5344CB8AC3E}">
        <p14:creationId xmlns:p14="http://schemas.microsoft.com/office/powerpoint/2010/main" val="1587693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DACA96-F217-AE0B-BF53-11E3EA0A9E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537732"/>
            <a:ext cx="5646732" cy="891268"/>
          </a:xfrm>
          <a:prstGeom prst="rect">
            <a:avLst/>
          </a:prstGeom>
        </p:spPr>
      </p:pic>
      <p:sp>
        <p:nvSpPr>
          <p:cNvPr id="3" name="Content Placeholder 2">
            <a:extLst>
              <a:ext uri="{FF2B5EF4-FFF2-40B4-BE49-F238E27FC236}">
                <a16:creationId xmlns:a16="http://schemas.microsoft.com/office/drawing/2014/main" id="{4CD48FC3-EDAA-D697-2E23-4E447074808F}"/>
              </a:ext>
            </a:extLst>
          </p:cNvPr>
          <p:cNvSpPr>
            <a:spLocks noGrp="1"/>
          </p:cNvSpPr>
          <p:nvPr>
            <p:ph idx="1"/>
          </p:nvPr>
        </p:nvSpPr>
        <p:spPr>
          <a:xfrm>
            <a:off x="402230" y="1883663"/>
            <a:ext cx="5306786" cy="4128242"/>
          </a:xfrm>
        </p:spPr>
        <p:txBody>
          <a:bodyPr>
            <a:normAutofit/>
          </a:bodyPr>
          <a:lstStyle/>
          <a:p>
            <a:pPr>
              <a:buFont typeface="Wingdings" panose="05000000000000000000" pitchFamily="2" charset="2"/>
              <a:buChar char="Ø"/>
            </a:pPr>
            <a:r>
              <a:rPr lang="en-US" dirty="0"/>
              <a:t>Appraisal value PPSF average = $295,300</a:t>
            </a:r>
          </a:p>
          <a:p>
            <a:pPr>
              <a:buFont typeface="Wingdings" panose="05000000000000000000" pitchFamily="2" charset="2"/>
              <a:buChar char="Ø"/>
            </a:pPr>
            <a:r>
              <a:rPr lang="en-US" dirty="0"/>
              <a:t>Proposed Appraisal Evaluation based on data set 1 </a:t>
            </a:r>
          </a:p>
          <a:p>
            <a:pPr marL="45720" indent="0">
              <a:buNone/>
            </a:pPr>
            <a:endParaRPr lang="en-US" dirty="0"/>
          </a:p>
          <a:p>
            <a:pPr marL="45720" indent="0">
              <a:buNone/>
            </a:pPr>
            <a:endParaRPr lang="en-US" dirty="0"/>
          </a:p>
        </p:txBody>
      </p:sp>
      <p:sp>
        <p:nvSpPr>
          <p:cNvPr id="4" name="TextBox 3">
            <a:extLst>
              <a:ext uri="{FF2B5EF4-FFF2-40B4-BE49-F238E27FC236}">
                <a16:creationId xmlns:a16="http://schemas.microsoft.com/office/drawing/2014/main" id="{123A6F68-7B8D-6D98-C250-9BD270771568}"/>
              </a:ext>
            </a:extLst>
          </p:cNvPr>
          <p:cNvSpPr txBox="1"/>
          <p:nvPr/>
        </p:nvSpPr>
        <p:spPr>
          <a:xfrm>
            <a:off x="402230" y="375558"/>
            <a:ext cx="7182391" cy="1169551"/>
          </a:xfrm>
          <a:prstGeom prst="rect">
            <a:avLst/>
          </a:prstGeom>
          <a:noFill/>
        </p:spPr>
        <p:txBody>
          <a:bodyPr wrap="square">
            <a:spAutoFit/>
          </a:bodyPr>
          <a:lstStyle/>
          <a:p>
            <a:pPr marL="45720" indent="0">
              <a:buNone/>
            </a:pPr>
            <a:r>
              <a:rPr lang="en-US" sz="4800" dirty="0">
                <a:solidFill>
                  <a:schemeClr val="accent1"/>
                </a:solidFill>
              </a:rPr>
              <a:t>Dataset 1</a:t>
            </a:r>
          </a:p>
          <a:p>
            <a:pPr marL="45720" indent="0">
              <a:buNone/>
            </a:pPr>
            <a:endParaRPr lang="en-US" sz="2200" dirty="0">
              <a:solidFill>
                <a:schemeClr val="accent1"/>
              </a:solidFill>
            </a:endParaRPr>
          </a:p>
        </p:txBody>
      </p:sp>
    </p:spTree>
    <p:extLst>
      <p:ext uri="{BB962C8B-B14F-4D97-AF65-F5344CB8AC3E}">
        <p14:creationId xmlns:p14="http://schemas.microsoft.com/office/powerpoint/2010/main" val="3932074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4EDB1-4223-915E-402D-67828F29A1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2460" y="976764"/>
            <a:ext cx="5120052" cy="4904471"/>
          </a:xfrm>
          <a:prstGeom prst="rect">
            <a:avLst/>
          </a:prstGeom>
        </p:spPr>
      </p:pic>
      <p:sp>
        <p:nvSpPr>
          <p:cNvPr id="2" name="TextBox 1">
            <a:extLst>
              <a:ext uri="{FF2B5EF4-FFF2-40B4-BE49-F238E27FC236}">
                <a16:creationId xmlns:a16="http://schemas.microsoft.com/office/drawing/2014/main" id="{61CC7ECD-432F-2E9C-C14C-72EEAC183047}"/>
              </a:ext>
            </a:extLst>
          </p:cNvPr>
          <p:cNvSpPr txBox="1"/>
          <p:nvPr/>
        </p:nvSpPr>
        <p:spPr>
          <a:xfrm>
            <a:off x="402230" y="375558"/>
            <a:ext cx="5955459" cy="1569660"/>
          </a:xfrm>
          <a:prstGeom prst="rect">
            <a:avLst/>
          </a:prstGeom>
          <a:noFill/>
        </p:spPr>
        <p:txBody>
          <a:bodyPr wrap="square">
            <a:spAutoFit/>
          </a:bodyPr>
          <a:lstStyle/>
          <a:p>
            <a:pPr marL="45720" indent="0">
              <a:buNone/>
            </a:pPr>
            <a:r>
              <a:rPr lang="en-US" sz="4800" dirty="0">
                <a:solidFill>
                  <a:schemeClr val="accent1"/>
                </a:solidFill>
              </a:rPr>
              <a:t>Dataset 1</a:t>
            </a:r>
          </a:p>
          <a:p>
            <a:pPr marL="45720" indent="0">
              <a:buNone/>
            </a:pPr>
            <a:endParaRPr lang="en-US" sz="4800" dirty="0"/>
          </a:p>
        </p:txBody>
      </p:sp>
      <p:sp>
        <p:nvSpPr>
          <p:cNvPr id="3" name="TextBox 2">
            <a:extLst>
              <a:ext uri="{FF2B5EF4-FFF2-40B4-BE49-F238E27FC236}">
                <a16:creationId xmlns:a16="http://schemas.microsoft.com/office/drawing/2014/main" id="{2E912F30-5154-738D-5204-7F9BCDBB29EF}"/>
              </a:ext>
            </a:extLst>
          </p:cNvPr>
          <p:cNvSpPr txBox="1"/>
          <p:nvPr/>
        </p:nvSpPr>
        <p:spPr>
          <a:xfrm>
            <a:off x="402230" y="1388695"/>
            <a:ext cx="5955459" cy="1477328"/>
          </a:xfrm>
          <a:prstGeom prst="rect">
            <a:avLst/>
          </a:prstGeom>
          <a:noFill/>
        </p:spPr>
        <p:txBody>
          <a:bodyPr wrap="square">
            <a:spAutoFit/>
          </a:bodyPr>
          <a:lstStyle/>
          <a:p>
            <a:pPr marL="45720"/>
            <a:r>
              <a:rPr lang="en-US" dirty="0">
                <a:solidFill>
                  <a:schemeClr val="accent1"/>
                </a:solidFill>
              </a:rPr>
              <a:t>Appraisal value PPSF average = $295,300 is within 1.2%, well within the appraisal PPSF margin of error</a:t>
            </a:r>
          </a:p>
          <a:p>
            <a:pPr marL="45720" indent="0">
              <a:buNone/>
            </a:pPr>
            <a:endParaRPr lang="en-US" dirty="0">
              <a:solidFill>
                <a:schemeClr val="accent1"/>
              </a:solidFill>
            </a:endParaRPr>
          </a:p>
          <a:p>
            <a:pPr marL="45720" indent="0">
              <a:buNone/>
            </a:pPr>
            <a:endParaRPr lang="en-US" dirty="0">
              <a:solidFill>
                <a:schemeClr val="accent1"/>
              </a:solidFill>
            </a:endParaRPr>
          </a:p>
          <a:p>
            <a:pPr marL="45720" indent="0">
              <a:buNone/>
            </a:pPr>
            <a:endParaRPr lang="en-US" dirty="0"/>
          </a:p>
        </p:txBody>
      </p:sp>
    </p:spTree>
    <p:extLst>
      <p:ext uri="{BB962C8B-B14F-4D97-AF65-F5344CB8AC3E}">
        <p14:creationId xmlns:p14="http://schemas.microsoft.com/office/powerpoint/2010/main" val="1776092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9A3FC-2A10-3326-20A7-52722E512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C469F-5FB1-3633-B6E0-3E2EF2721A68}"/>
              </a:ext>
            </a:extLst>
          </p:cNvPr>
          <p:cNvSpPr>
            <a:spLocks noGrp="1"/>
          </p:cNvSpPr>
          <p:nvPr>
            <p:ph type="title"/>
          </p:nvPr>
        </p:nvSpPr>
        <p:spPr>
          <a:xfrm>
            <a:off x="995748" y="608901"/>
            <a:ext cx="10200503" cy="5640198"/>
          </a:xfrm>
        </p:spPr>
        <p:txBody>
          <a:bodyPr/>
          <a:lstStyle/>
          <a:p>
            <a:pPr algn="ctr"/>
            <a:r>
              <a:rPr lang="en-US" dirty="0"/>
              <a:t>Market Dataset 2</a:t>
            </a:r>
          </a:p>
        </p:txBody>
      </p:sp>
    </p:spTree>
    <p:extLst>
      <p:ext uri="{BB962C8B-B14F-4D97-AF65-F5344CB8AC3E}">
        <p14:creationId xmlns:p14="http://schemas.microsoft.com/office/powerpoint/2010/main" val="2614645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232CB-8138-C81E-82EF-BD47977DCBDE}"/>
              </a:ext>
            </a:extLst>
          </p:cNvPr>
          <p:cNvSpPr>
            <a:spLocks noGrp="1"/>
          </p:cNvSpPr>
          <p:nvPr>
            <p:ph idx="1"/>
          </p:nvPr>
        </p:nvSpPr>
        <p:spPr>
          <a:xfrm>
            <a:off x="3117946" y="5889071"/>
            <a:ext cx="6479486" cy="383097"/>
          </a:xfrm>
        </p:spPr>
        <p:txBody>
          <a:bodyPr>
            <a:normAutofit lnSpcReduction="10000"/>
          </a:bodyPr>
          <a:lstStyle/>
          <a:p>
            <a:r>
              <a:rPr lang="en-US" dirty="0"/>
              <a:t>https://fred.stlouisfed.org/series/ATNHPIUS48491A</a:t>
            </a:r>
          </a:p>
        </p:txBody>
      </p:sp>
      <p:pic>
        <p:nvPicPr>
          <p:cNvPr id="5" name="Picture 4">
            <a:extLst>
              <a:ext uri="{FF2B5EF4-FFF2-40B4-BE49-F238E27FC236}">
                <a16:creationId xmlns:a16="http://schemas.microsoft.com/office/drawing/2014/main" id="{B806653D-C0DF-7001-6A15-E8E6A199A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461" y="1153057"/>
            <a:ext cx="7000456" cy="4551886"/>
          </a:xfrm>
          <a:prstGeom prst="rect">
            <a:avLst/>
          </a:prstGeom>
        </p:spPr>
      </p:pic>
      <p:sp>
        <p:nvSpPr>
          <p:cNvPr id="2" name="TextBox 1">
            <a:extLst>
              <a:ext uri="{FF2B5EF4-FFF2-40B4-BE49-F238E27FC236}">
                <a16:creationId xmlns:a16="http://schemas.microsoft.com/office/drawing/2014/main" id="{AC7573EB-11C4-2DC2-0883-7AB5C27D36BD}"/>
              </a:ext>
            </a:extLst>
          </p:cNvPr>
          <p:cNvSpPr txBox="1"/>
          <p:nvPr/>
        </p:nvSpPr>
        <p:spPr>
          <a:xfrm>
            <a:off x="402230" y="375558"/>
            <a:ext cx="5955459" cy="830997"/>
          </a:xfrm>
          <a:prstGeom prst="rect">
            <a:avLst/>
          </a:prstGeom>
          <a:noFill/>
        </p:spPr>
        <p:txBody>
          <a:bodyPr wrap="square">
            <a:spAutoFit/>
          </a:bodyPr>
          <a:lstStyle/>
          <a:p>
            <a:pPr marL="45720" indent="0">
              <a:buNone/>
            </a:pPr>
            <a:r>
              <a:rPr lang="en-US" sz="4800" dirty="0">
                <a:solidFill>
                  <a:schemeClr val="accent1"/>
                </a:solidFill>
              </a:rPr>
              <a:t>Dataset 2</a:t>
            </a:r>
          </a:p>
        </p:txBody>
      </p:sp>
    </p:spTree>
    <p:extLst>
      <p:ext uri="{BB962C8B-B14F-4D97-AF65-F5344CB8AC3E}">
        <p14:creationId xmlns:p14="http://schemas.microsoft.com/office/powerpoint/2010/main" val="1884203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B0B52B-52CD-59D9-D89F-57A14F34AB85}"/>
              </a:ext>
            </a:extLst>
          </p:cNvPr>
          <p:cNvSpPr>
            <a:spLocks noGrp="1"/>
          </p:cNvSpPr>
          <p:nvPr>
            <p:ph idx="1"/>
          </p:nvPr>
        </p:nvSpPr>
        <p:spPr>
          <a:xfrm>
            <a:off x="402230" y="1217041"/>
            <a:ext cx="5400412" cy="4038600"/>
          </a:xfrm>
        </p:spPr>
        <p:txBody>
          <a:bodyPr/>
          <a:lstStyle/>
          <a:p>
            <a:pPr>
              <a:buFont typeface="Wingdings" panose="05000000000000000000" pitchFamily="2" charset="2"/>
              <a:buChar char="Ø"/>
            </a:pPr>
            <a:r>
              <a:rPr lang="en-US" dirty="0"/>
              <a:t>Indexed Value = $360,907</a:t>
            </a:r>
          </a:p>
          <a:p>
            <a:pPr>
              <a:buFont typeface="Wingdings" panose="05000000000000000000" pitchFamily="2" charset="2"/>
              <a:buChar char="Ø"/>
            </a:pPr>
            <a:r>
              <a:rPr lang="en-US" dirty="0"/>
              <a:t>Proposed Appraisal Evaluation based on dataset 2 </a:t>
            </a:r>
          </a:p>
          <a:p>
            <a:endParaRPr lang="en-US" dirty="0"/>
          </a:p>
        </p:txBody>
      </p:sp>
      <p:pic>
        <p:nvPicPr>
          <p:cNvPr id="5" name="Picture 4">
            <a:extLst>
              <a:ext uri="{FF2B5EF4-FFF2-40B4-BE49-F238E27FC236}">
                <a16:creationId xmlns:a16="http://schemas.microsoft.com/office/drawing/2014/main" id="{06C3D0C8-2C9D-D0A3-342F-F48443D4FB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8331" y="2667000"/>
            <a:ext cx="3933825" cy="762000"/>
          </a:xfrm>
          <a:prstGeom prst="rect">
            <a:avLst/>
          </a:prstGeom>
        </p:spPr>
      </p:pic>
      <p:sp>
        <p:nvSpPr>
          <p:cNvPr id="6" name="TextBox 5">
            <a:extLst>
              <a:ext uri="{FF2B5EF4-FFF2-40B4-BE49-F238E27FC236}">
                <a16:creationId xmlns:a16="http://schemas.microsoft.com/office/drawing/2014/main" id="{C02A5C71-F254-4E88-110B-742CDD1363D5}"/>
              </a:ext>
            </a:extLst>
          </p:cNvPr>
          <p:cNvSpPr txBox="1"/>
          <p:nvPr/>
        </p:nvSpPr>
        <p:spPr>
          <a:xfrm>
            <a:off x="402230" y="375558"/>
            <a:ext cx="5955459" cy="830997"/>
          </a:xfrm>
          <a:prstGeom prst="rect">
            <a:avLst/>
          </a:prstGeom>
          <a:noFill/>
        </p:spPr>
        <p:txBody>
          <a:bodyPr wrap="square">
            <a:spAutoFit/>
          </a:bodyPr>
          <a:lstStyle/>
          <a:p>
            <a:pPr marL="45720" indent="0">
              <a:buNone/>
            </a:pPr>
            <a:r>
              <a:rPr lang="en-US" sz="4800" dirty="0">
                <a:solidFill>
                  <a:schemeClr val="accent1"/>
                </a:solidFill>
              </a:rPr>
              <a:t>Dataset 2</a:t>
            </a:r>
          </a:p>
        </p:txBody>
      </p:sp>
    </p:spTree>
    <p:extLst>
      <p:ext uri="{BB962C8B-B14F-4D97-AF65-F5344CB8AC3E}">
        <p14:creationId xmlns:p14="http://schemas.microsoft.com/office/powerpoint/2010/main" val="2125007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73406B-27C9-C92F-A4F1-1F7DC477C2FB}"/>
              </a:ext>
            </a:extLst>
          </p:cNvPr>
          <p:cNvSpPr>
            <a:spLocks noGrp="1"/>
          </p:cNvSpPr>
          <p:nvPr>
            <p:ph idx="1"/>
          </p:nvPr>
        </p:nvSpPr>
        <p:spPr>
          <a:xfrm>
            <a:off x="1143000" y="5637402"/>
            <a:ext cx="9872871" cy="458598"/>
          </a:xfrm>
        </p:spPr>
        <p:txBody>
          <a:bodyPr>
            <a:normAutofit/>
          </a:bodyPr>
          <a:lstStyle/>
          <a:p>
            <a:pPr marL="45720" indent="0">
              <a:buNone/>
            </a:pPr>
            <a:r>
              <a:rPr lang="en-US" dirty="0"/>
              <a:t>https://teamprice.com/austin-daily-real-estate-briefing/2026-01-26</a:t>
            </a:r>
          </a:p>
          <a:p>
            <a:pPr marL="45720" indent="0">
              <a:buNone/>
            </a:pPr>
            <a:endParaRPr lang="en-US" dirty="0"/>
          </a:p>
        </p:txBody>
      </p:sp>
      <p:sp>
        <p:nvSpPr>
          <p:cNvPr id="5" name="TextBox 4">
            <a:extLst>
              <a:ext uri="{FF2B5EF4-FFF2-40B4-BE49-F238E27FC236}">
                <a16:creationId xmlns:a16="http://schemas.microsoft.com/office/drawing/2014/main" id="{983A81F2-29D5-C17D-B520-4F24644945CF}"/>
              </a:ext>
            </a:extLst>
          </p:cNvPr>
          <p:cNvSpPr txBox="1"/>
          <p:nvPr/>
        </p:nvSpPr>
        <p:spPr>
          <a:xfrm>
            <a:off x="420848" y="1160388"/>
            <a:ext cx="11350304" cy="2739211"/>
          </a:xfrm>
          <a:prstGeom prst="rect">
            <a:avLst/>
          </a:prstGeom>
          <a:noFill/>
        </p:spPr>
        <p:txBody>
          <a:bodyPr wrap="square">
            <a:spAutoFit/>
          </a:bodyPr>
          <a:lstStyle/>
          <a:p>
            <a:pPr marL="45720" indent="0">
              <a:buNone/>
            </a:pPr>
            <a:r>
              <a:rPr lang="en-US" sz="2800" dirty="0">
                <a:solidFill>
                  <a:schemeClr val="accent1"/>
                </a:solidFill>
              </a:rPr>
              <a:t>Overevaluation</a:t>
            </a:r>
          </a:p>
          <a:p>
            <a:pPr marL="45720" indent="0">
              <a:buNone/>
            </a:pPr>
            <a:endParaRPr lang="en-US" dirty="0">
              <a:solidFill>
                <a:schemeClr val="accent1"/>
              </a:solidFill>
            </a:endParaRPr>
          </a:p>
          <a:p>
            <a:pPr marL="45720"/>
            <a:r>
              <a:rPr lang="en-US" dirty="0">
                <a:solidFill>
                  <a:schemeClr val="accent1"/>
                </a:solidFill>
              </a:rPr>
              <a:t>“the [area] … experienced at least one price reduction. That level of price adjustment is historically elevated and signals that original list prices are still overshooting what today’s buyers are willing or able to pay.”</a:t>
            </a:r>
          </a:p>
          <a:p>
            <a:pPr marL="45720" indent="0">
              <a:buNone/>
            </a:pPr>
            <a:endParaRPr lang="en-US" dirty="0">
              <a:solidFill>
                <a:schemeClr val="accent1"/>
              </a:solidFill>
            </a:endParaRPr>
          </a:p>
          <a:p>
            <a:pPr marL="331470" indent="-285750">
              <a:buFont typeface="Arial" panose="020B0604020202020204" pitchFamily="34" charset="0"/>
              <a:buChar char="•"/>
            </a:pPr>
            <a:r>
              <a:rPr lang="en-US" dirty="0">
                <a:solidFill>
                  <a:schemeClr val="accent1"/>
                </a:solidFill>
              </a:rPr>
              <a:t>Texas Tax Code § 1.04(7), Definition of Market Value — defines market value as the price a property would transfer for cash in an open market transaction. </a:t>
            </a:r>
          </a:p>
          <a:p>
            <a:pPr marL="45720" indent="0">
              <a:buNone/>
            </a:pPr>
            <a:endParaRPr lang="en-US" dirty="0">
              <a:solidFill>
                <a:schemeClr val="accent1"/>
              </a:solidFill>
            </a:endParaRPr>
          </a:p>
          <a:p>
            <a:pPr marL="45720" indent="0">
              <a:buNone/>
            </a:pPr>
            <a:endParaRPr lang="en-US" dirty="0"/>
          </a:p>
        </p:txBody>
      </p:sp>
      <p:sp>
        <p:nvSpPr>
          <p:cNvPr id="2" name="TextBox 1">
            <a:extLst>
              <a:ext uri="{FF2B5EF4-FFF2-40B4-BE49-F238E27FC236}">
                <a16:creationId xmlns:a16="http://schemas.microsoft.com/office/drawing/2014/main" id="{351FB6AC-D490-E581-337C-111C6B361A1B}"/>
              </a:ext>
            </a:extLst>
          </p:cNvPr>
          <p:cNvSpPr txBox="1"/>
          <p:nvPr/>
        </p:nvSpPr>
        <p:spPr>
          <a:xfrm>
            <a:off x="420848" y="382012"/>
            <a:ext cx="4027157" cy="830997"/>
          </a:xfrm>
          <a:prstGeom prst="rect">
            <a:avLst/>
          </a:prstGeom>
          <a:noFill/>
        </p:spPr>
        <p:txBody>
          <a:bodyPr wrap="square">
            <a:spAutoFit/>
          </a:bodyPr>
          <a:lstStyle/>
          <a:p>
            <a:pPr marL="45720" indent="0">
              <a:buNone/>
            </a:pPr>
            <a:r>
              <a:rPr lang="en-US" sz="4800" dirty="0">
                <a:solidFill>
                  <a:schemeClr val="accent1"/>
                </a:solidFill>
              </a:rPr>
              <a:t>Dataset 2</a:t>
            </a:r>
            <a:endParaRPr lang="en-US" sz="4800" dirty="0"/>
          </a:p>
        </p:txBody>
      </p:sp>
    </p:spTree>
    <p:extLst>
      <p:ext uri="{BB962C8B-B14F-4D97-AF65-F5344CB8AC3E}">
        <p14:creationId xmlns:p14="http://schemas.microsoft.com/office/powerpoint/2010/main" val="1549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CD32A-315D-E157-AB11-F35A681AD5BA}"/>
              </a:ext>
            </a:extLst>
          </p:cNvPr>
          <p:cNvSpPr>
            <a:spLocks noGrp="1"/>
          </p:cNvSpPr>
          <p:nvPr>
            <p:ph type="title"/>
          </p:nvPr>
        </p:nvSpPr>
        <p:spPr>
          <a:xfrm>
            <a:off x="1158240" y="2750820"/>
            <a:ext cx="9875520" cy="1356360"/>
          </a:xfrm>
        </p:spPr>
        <p:txBody>
          <a:bodyPr/>
          <a:lstStyle/>
          <a:p>
            <a:pPr algn="ctr"/>
            <a:r>
              <a:rPr lang="en-US" dirty="0"/>
              <a:t>Market Dataset 3</a:t>
            </a:r>
          </a:p>
        </p:txBody>
      </p:sp>
    </p:spTree>
    <p:extLst>
      <p:ext uri="{BB962C8B-B14F-4D97-AF65-F5344CB8AC3E}">
        <p14:creationId xmlns:p14="http://schemas.microsoft.com/office/powerpoint/2010/main" val="3560923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7E60103-B781-FAD4-CDE5-37F34E89C1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54" y="243226"/>
            <a:ext cx="9899091" cy="6371548"/>
          </a:xfrm>
          <a:prstGeom prst="rect">
            <a:avLst/>
          </a:prstGeom>
        </p:spPr>
      </p:pic>
    </p:spTree>
    <p:extLst>
      <p:ext uri="{BB962C8B-B14F-4D97-AF65-F5344CB8AC3E}">
        <p14:creationId xmlns:p14="http://schemas.microsoft.com/office/powerpoint/2010/main" val="1568327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A5794-350D-8F38-B628-85CEDEBD1921}"/>
              </a:ext>
            </a:extLst>
          </p:cNvPr>
          <p:cNvSpPr>
            <a:spLocks noGrp="1"/>
          </p:cNvSpPr>
          <p:nvPr>
            <p:ph type="title"/>
          </p:nvPr>
        </p:nvSpPr>
        <p:spPr>
          <a:xfrm>
            <a:off x="397998" y="1183187"/>
            <a:ext cx="4878677" cy="1151549"/>
          </a:xfrm>
        </p:spPr>
        <p:txBody>
          <a:bodyPr>
            <a:normAutofit/>
          </a:bodyPr>
          <a:lstStyle/>
          <a:p>
            <a:r>
              <a:rPr lang="en-US" sz="2800" dirty="0"/>
              <a:t>102 </a:t>
            </a:r>
            <a:r>
              <a:rPr lang="en-US" sz="2800" dirty="0" err="1"/>
              <a:t>Marimoor</a:t>
            </a:r>
            <a:r>
              <a:rPr lang="en-US" sz="2800" dirty="0"/>
              <a:t> Dr Auction Results</a:t>
            </a:r>
          </a:p>
        </p:txBody>
      </p:sp>
      <p:pic>
        <p:nvPicPr>
          <p:cNvPr id="9" name="Content Placeholder 8">
            <a:extLst>
              <a:ext uri="{FF2B5EF4-FFF2-40B4-BE49-F238E27FC236}">
                <a16:creationId xmlns:a16="http://schemas.microsoft.com/office/drawing/2014/main" id="{7882772F-F747-C73D-3417-5C29313400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13597" y="1362603"/>
            <a:ext cx="2151368" cy="1835910"/>
          </a:xfrm>
          <a:prstGeom prst="rect">
            <a:avLst/>
          </a:prstGeom>
        </p:spPr>
      </p:pic>
      <p:pic>
        <p:nvPicPr>
          <p:cNvPr id="11" name="Picture 10">
            <a:extLst>
              <a:ext uri="{FF2B5EF4-FFF2-40B4-BE49-F238E27FC236}">
                <a16:creationId xmlns:a16="http://schemas.microsoft.com/office/drawing/2014/main" id="{9AFE7897-FF48-F457-BB57-AD04A409AD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14157" y="1277644"/>
            <a:ext cx="1879845" cy="2490641"/>
          </a:xfrm>
          <a:prstGeom prst="rect">
            <a:avLst/>
          </a:prstGeom>
        </p:spPr>
      </p:pic>
      <p:pic>
        <p:nvPicPr>
          <p:cNvPr id="13" name="Picture 12">
            <a:extLst>
              <a:ext uri="{FF2B5EF4-FFF2-40B4-BE49-F238E27FC236}">
                <a16:creationId xmlns:a16="http://schemas.microsoft.com/office/drawing/2014/main" id="{12514CCB-FD69-8C1B-D352-576374E06F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2377" y="4074851"/>
            <a:ext cx="1716489" cy="2490640"/>
          </a:xfrm>
          <a:prstGeom prst="rect">
            <a:avLst/>
          </a:prstGeom>
        </p:spPr>
      </p:pic>
      <p:pic>
        <p:nvPicPr>
          <p:cNvPr id="15" name="Picture 14">
            <a:extLst>
              <a:ext uri="{FF2B5EF4-FFF2-40B4-BE49-F238E27FC236}">
                <a16:creationId xmlns:a16="http://schemas.microsoft.com/office/drawing/2014/main" id="{D3B7B4A9-9867-748B-9697-328E9801E2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07184" y="4074851"/>
            <a:ext cx="1755608" cy="2499292"/>
          </a:xfrm>
          <a:prstGeom prst="rect">
            <a:avLst/>
          </a:prstGeom>
        </p:spPr>
      </p:pic>
      <p:pic>
        <p:nvPicPr>
          <p:cNvPr id="17" name="Picture 16">
            <a:extLst>
              <a:ext uri="{FF2B5EF4-FFF2-40B4-BE49-F238E27FC236}">
                <a16:creationId xmlns:a16="http://schemas.microsoft.com/office/drawing/2014/main" id="{0934590A-BC04-C41C-E97A-FF9E5E8426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11110" y="4083265"/>
            <a:ext cx="1716489" cy="2510731"/>
          </a:xfrm>
          <a:prstGeom prst="rect">
            <a:avLst/>
          </a:prstGeom>
        </p:spPr>
      </p:pic>
      <p:cxnSp>
        <p:nvCxnSpPr>
          <p:cNvPr id="21" name="Straight Arrow Connector 20">
            <a:extLst>
              <a:ext uri="{FF2B5EF4-FFF2-40B4-BE49-F238E27FC236}">
                <a16:creationId xmlns:a16="http://schemas.microsoft.com/office/drawing/2014/main" id="{9EA3364B-2A11-54E7-7D90-D837BB4BE286}"/>
              </a:ext>
            </a:extLst>
          </p:cNvPr>
          <p:cNvCxnSpPr>
            <a:cxnSpLocks/>
          </p:cNvCxnSpPr>
          <p:nvPr/>
        </p:nvCxnSpPr>
        <p:spPr>
          <a:xfrm>
            <a:off x="7932775" y="2028015"/>
            <a:ext cx="1981382" cy="0"/>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0EBE7E48-98E0-A0F1-68D5-C91B6E4A4D10}"/>
              </a:ext>
            </a:extLst>
          </p:cNvPr>
          <p:cNvCxnSpPr>
            <a:cxnSpLocks/>
            <a:endCxn id="17" idx="1"/>
          </p:cNvCxnSpPr>
          <p:nvPr/>
        </p:nvCxnSpPr>
        <p:spPr>
          <a:xfrm>
            <a:off x="8662792" y="5338631"/>
            <a:ext cx="1348318" cy="0"/>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DD80ACC-0C02-E6DA-D332-2A99DC44B172}"/>
              </a:ext>
            </a:extLst>
          </p:cNvPr>
          <p:cNvCxnSpPr>
            <a:cxnSpLocks/>
            <a:stCxn id="11" idx="1"/>
          </p:cNvCxnSpPr>
          <p:nvPr/>
        </p:nvCxnSpPr>
        <p:spPr>
          <a:xfrm flipH="1">
            <a:off x="3529207" y="2522965"/>
            <a:ext cx="6384950" cy="1710853"/>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93797B9F-6895-4800-DFB6-8772DC12D922}"/>
              </a:ext>
            </a:extLst>
          </p:cNvPr>
          <p:cNvSpPr txBox="1"/>
          <p:nvPr/>
        </p:nvSpPr>
        <p:spPr>
          <a:xfrm>
            <a:off x="402230" y="375558"/>
            <a:ext cx="5955459" cy="830997"/>
          </a:xfrm>
          <a:prstGeom prst="rect">
            <a:avLst/>
          </a:prstGeom>
          <a:noFill/>
        </p:spPr>
        <p:txBody>
          <a:bodyPr wrap="square">
            <a:spAutoFit/>
          </a:bodyPr>
          <a:lstStyle/>
          <a:p>
            <a:pPr marL="45720" indent="0">
              <a:buNone/>
            </a:pPr>
            <a:r>
              <a:rPr lang="en-US" sz="4800" dirty="0">
                <a:solidFill>
                  <a:schemeClr val="accent1"/>
                </a:solidFill>
              </a:rPr>
              <a:t>Dataset 3</a:t>
            </a:r>
          </a:p>
        </p:txBody>
      </p:sp>
      <p:cxnSp>
        <p:nvCxnSpPr>
          <p:cNvPr id="5" name="Straight Arrow Connector 4">
            <a:extLst>
              <a:ext uri="{FF2B5EF4-FFF2-40B4-BE49-F238E27FC236}">
                <a16:creationId xmlns:a16="http://schemas.microsoft.com/office/drawing/2014/main" id="{DE6B1E9A-53DB-32A3-3194-B49F272D1316}"/>
              </a:ext>
            </a:extLst>
          </p:cNvPr>
          <p:cNvCxnSpPr>
            <a:cxnSpLocks/>
          </p:cNvCxnSpPr>
          <p:nvPr/>
        </p:nvCxnSpPr>
        <p:spPr>
          <a:xfrm>
            <a:off x="5558866" y="5213565"/>
            <a:ext cx="1348318" cy="0"/>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5857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BCFC15-B072-0C51-9F17-91FBC64D3F2B}"/>
              </a:ext>
            </a:extLst>
          </p:cNvPr>
          <p:cNvSpPr>
            <a:spLocks noGrp="1"/>
          </p:cNvSpPr>
          <p:nvPr>
            <p:ph idx="1"/>
          </p:nvPr>
        </p:nvSpPr>
        <p:spPr>
          <a:xfrm>
            <a:off x="555770" y="1596004"/>
            <a:ext cx="11272707" cy="4922241"/>
          </a:xfrm>
        </p:spPr>
        <p:txBody>
          <a:bodyPr>
            <a:normAutofit fontScale="85000" lnSpcReduction="20000"/>
          </a:bodyPr>
          <a:lstStyle/>
          <a:p>
            <a:pPr marL="45720" indent="0">
              <a:buNone/>
            </a:pPr>
            <a:r>
              <a:rPr lang="en-US" sz="3300" b="1" dirty="0"/>
              <a:t>Going rate of foreclosures</a:t>
            </a:r>
          </a:p>
          <a:p>
            <a:pPr marL="45720" indent="0">
              <a:buNone/>
            </a:pPr>
            <a:endParaRPr lang="en-US" dirty="0"/>
          </a:p>
          <a:p>
            <a:pPr marL="45720" indent="0">
              <a:buNone/>
            </a:pPr>
            <a:r>
              <a:rPr lang="en-US" dirty="0"/>
              <a:t>“Foreclosed homes typically auction for</a:t>
            </a:r>
            <a:r>
              <a:rPr lang="en-US" dirty="0">
                <a:hlinkClick r:id="rId2"/>
              </a:rPr>
              <a:t> 20-30% below market value</a:t>
            </a:r>
            <a:r>
              <a:rPr lang="en-US" dirty="0"/>
              <a:t> with lenders being happy to recoup for 80 to 70 cents on the dollar of the home’s appraised value.” </a:t>
            </a:r>
          </a:p>
          <a:p>
            <a:pPr>
              <a:buFont typeface="Wingdings" panose="05000000000000000000" pitchFamily="2" charset="2"/>
              <a:buChar char="Ø"/>
            </a:pPr>
            <a:r>
              <a:rPr lang="en-US" dirty="0"/>
              <a:t>https://realestate.alexcooper.com/real-estate-auction/how-much-do-foreclosed-homes-sell-for-at-auction</a:t>
            </a:r>
            <a:br>
              <a:rPr lang="en-US" dirty="0"/>
            </a:br>
            <a:endParaRPr lang="en-US" dirty="0"/>
          </a:p>
          <a:p>
            <a:pPr marL="45720" indent="0">
              <a:buNone/>
            </a:pPr>
            <a:r>
              <a:rPr lang="en-US" dirty="0"/>
              <a:t>“On average, this ends up totaling about 15% below the home's actual value—and if you want to buy a foreclosure, you'll find it often sells for less than asking price.” </a:t>
            </a:r>
          </a:p>
          <a:p>
            <a:pPr>
              <a:buFont typeface="Wingdings" panose="05000000000000000000" pitchFamily="2" charset="2"/>
              <a:buChar char="Ø"/>
            </a:pPr>
            <a:r>
              <a:rPr lang="en-US" dirty="0">
                <a:hlinkClick r:id="rId3"/>
              </a:rPr>
              <a:t>https://www.realtor.com/advice/buy/what-does-buying-a-foreclosed-home-entail/</a:t>
            </a:r>
            <a:endParaRPr lang="en-US" dirty="0"/>
          </a:p>
          <a:p>
            <a:pPr>
              <a:buFont typeface="Wingdings" panose="05000000000000000000" pitchFamily="2" charset="2"/>
              <a:buChar char="Ø"/>
            </a:pPr>
            <a:endParaRPr lang="en-US" dirty="0"/>
          </a:p>
          <a:p>
            <a:pPr marL="45720" indent="0">
              <a:buNone/>
            </a:pPr>
            <a:r>
              <a:rPr lang="en-US" dirty="0"/>
              <a:t>“…auction buyers were willing to pay an average of 67.3 percent of estimated retail market value, up from 64.6 percent in Q4 2025 but down from 68.6 percent a year ago. That represented 102 percent of the Q1 2020 level.” </a:t>
            </a:r>
          </a:p>
          <a:p>
            <a:pPr>
              <a:buFont typeface="Wingdings" panose="05000000000000000000" pitchFamily="2" charset="2"/>
              <a:buChar char="Ø"/>
            </a:pPr>
            <a:r>
              <a:rPr lang="en-US" dirty="0"/>
              <a:t>https://www.auction.com/lp/auction-market-dispatch</a:t>
            </a:r>
            <a:br>
              <a:rPr lang="en-US" dirty="0"/>
            </a:br>
            <a:br>
              <a:rPr lang="en-US" dirty="0"/>
            </a:br>
            <a:endParaRPr lang="en-US" dirty="0"/>
          </a:p>
        </p:txBody>
      </p:sp>
      <p:sp>
        <p:nvSpPr>
          <p:cNvPr id="4" name="TextBox 3">
            <a:extLst>
              <a:ext uri="{FF2B5EF4-FFF2-40B4-BE49-F238E27FC236}">
                <a16:creationId xmlns:a16="http://schemas.microsoft.com/office/drawing/2014/main" id="{FF89D860-9A86-98CD-57F2-0D424395A334}"/>
              </a:ext>
            </a:extLst>
          </p:cNvPr>
          <p:cNvSpPr txBox="1"/>
          <p:nvPr/>
        </p:nvSpPr>
        <p:spPr>
          <a:xfrm>
            <a:off x="402230" y="375558"/>
            <a:ext cx="5955459" cy="830997"/>
          </a:xfrm>
          <a:prstGeom prst="rect">
            <a:avLst/>
          </a:prstGeom>
          <a:noFill/>
        </p:spPr>
        <p:txBody>
          <a:bodyPr wrap="square">
            <a:spAutoFit/>
          </a:bodyPr>
          <a:lstStyle/>
          <a:p>
            <a:pPr marL="45720" indent="0">
              <a:buNone/>
            </a:pPr>
            <a:r>
              <a:rPr lang="en-US" sz="4800" dirty="0">
                <a:solidFill>
                  <a:schemeClr val="accent1"/>
                </a:solidFill>
              </a:rPr>
              <a:t>Dataset 3</a:t>
            </a:r>
          </a:p>
        </p:txBody>
      </p:sp>
    </p:spTree>
    <p:extLst>
      <p:ext uri="{BB962C8B-B14F-4D97-AF65-F5344CB8AC3E}">
        <p14:creationId xmlns:p14="http://schemas.microsoft.com/office/powerpoint/2010/main" val="2513693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98EBCE4-12F7-73BE-117F-8E81988B25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86356" y="1206555"/>
            <a:ext cx="5419288" cy="4960027"/>
          </a:xfrm>
          <a:prstGeom prst="rect">
            <a:avLst/>
          </a:prstGeom>
        </p:spPr>
      </p:pic>
      <p:sp>
        <p:nvSpPr>
          <p:cNvPr id="2" name="TextBox 1">
            <a:extLst>
              <a:ext uri="{FF2B5EF4-FFF2-40B4-BE49-F238E27FC236}">
                <a16:creationId xmlns:a16="http://schemas.microsoft.com/office/drawing/2014/main" id="{C3CD03CC-7578-FA9C-F2B3-9B8FEA113186}"/>
              </a:ext>
            </a:extLst>
          </p:cNvPr>
          <p:cNvSpPr txBox="1"/>
          <p:nvPr/>
        </p:nvSpPr>
        <p:spPr>
          <a:xfrm>
            <a:off x="402230" y="375558"/>
            <a:ext cx="5955459" cy="830997"/>
          </a:xfrm>
          <a:prstGeom prst="rect">
            <a:avLst/>
          </a:prstGeom>
          <a:noFill/>
        </p:spPr>
        <p:txBody>
          <a:bodyPr wrap="square">
            <a:spAutoFit/>
          </a:bodyPr>
          <a:lstStyle/>
          <a:p>
            <a:pPr marL="45720" indent="0">
              <a:buNone/>
            </a:pPr>
            <a:r>
              <a:rPr lang="en-US" sz="4800" dirty="0">
                <a:solidFill>
                  <a:schemeClr val="accent1"/>
                </a:solidFill>
              </a:rPr>
              <a:t>Dataset 3</a:t>
            </a:r>
          </a:p>
        </p:txBody>
      </p:sp>
    </p:spTree>
    <p:extLst>
      <p:ext uri="{BB962C8B-B14F-4D97-AF65-F5344CB8AC3E}">
        <p14:creationId xmlns:p14="http://schemas.microsoft.com/office/powerpoint/2010/main" val="688005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5EA689-9746-09E9-BFA6-BFAF1409CCD5}"/>
              </a:ext>
            </a:extLst>
          </p:cNvPr>
          <p:cNvSpPr>
            <a:spLocks noGrp="1"/>
          </p:cNvSpPr>
          <p:nvPr>
            <p:ph idx="1"/>
          </p:nvPr>
        </p:nvSpPr>
        <p:spPr>
          <a:xfrm>
            <a:off x="402231" y="1206555"/>
            <a:ext cx="6183127" cy="4038600"/>
          </a:xfrm>
        </p:spPr>
        <p:txBody>
          <a:bodyPr/>
          <a:lstStyle/>
          <a:p>
            <a:pPr>
              <a:buFont typeface="Wingdings" panose="05000000000000000000" pitchFamily="2" charset="2"/>
              <a:buChar char="Ø"/>
            </a:pPr>
            <a:r>
              <a:rPr lang="en-US" dirty="0"/>
              <a:t>Auction Implied Market Value Average = $300,000</a:t>
            </a:r>
          </a:p>
          <a:p>
            <a:pPr>
              <a:buFont typeface="Wingdings" panose="05000000000000000000" pitchFamily="2" charset="2"/>
              <a:buChar char="Ø"/>
            </a:pPr>
            <a:r>
              <a:rPr lang="en-US" dirty="0"/>
              <a:t>Proposed Appraisal Evaluation based on data set 3</a:t>
            </a:r>
          </a:p>
        </p:txBody>
      </p:sp>
      <p:pic>
        <p:nvPicPr>
          <p:cNvPr id="4" name="Content Placeholder 4">
            <a:extLst>
              <a:ext uri="{FF2B5EF4-FFF2-40B4-BE49-F238E27FC236}">
                <a16:creationId xmlns:a16="http://schemas.microsoft.com/office/drawing/2014/main" id="{FA02770D-F494-06C6-4D34-515636B917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4748" y="1206555"/>
            <a:ext cx="4121578" cy="3772292"/>
          </a:xfrm>
          <a:prstGeom prst="rect">
            <a:avLst/>
          </a:prstGeom>
        </p:spPr>
      </p:pic>
      <p:sp>
        <p:nvSpPr>
          <p:cNvPr id="5" name="TextBox 4">
            <a:extLst>
              <a:ext uri="{FF2B5EF4-FFF2-40B4-BE49-F238E27FC236}">
                <a16:creationId xmlns:a16="http://schemas.microsoft.com/office/drawing/2014/main" id="{4D0389E8-DA63-4D78-1E70-450C5B200B03}"/>
              </a:ext>
            </a:extLst>
          </p:cNvPr>
          <p:cNvSpPr txBox="1"/>
          <p:nvPr/>
        </p:nvSpPr>
        <p:spPr>
          <a:xfrm>
            <a:off x="402230" y="375558"/>
            <a:ext cx="5955459" cy="830997"/>
          </a:xfrm>
          <a:prstGeom prst="rect">
            <a:avLst/>
          </a:prstGeom>
          <a:noFill/>
        </p:spPr>
        <p:txBody>
          <a:bodyPr wrap="square">
            <a:spAutoFit/>
          </a:bodyPr>
          <a:lstStyle/>
          <a:p>
            <a:pPr marL="45720" indent="0">
              <a:buNone/>
            </a:pPr>
            <a:r>
              <a:rPr lang="en-US" sz="4800" dirty="0">
                <a:solidFill>
                  <a:schemeClr val="accent1"/>
                </a:solidFill>
              </a:rPr>
              <a:t>Dataset 3</a:t>
            </a:r>
          </a:p>
        </p:txBody>
      </p:sp>
    </p:spTree>
    <p:extLst>
      <p:ext uri="{BB962C8B-B14F-4D97-AF65-F5344CB8AC3E}">
        <p14:creationId xmlns:p14="http://schemas.microsoft.com/office/powerpoint/2010/main" val="3917194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F596-DC62-EB82-0B66-863EB914E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6317E-E660-F191-8AD7-96FA90310910}"/>
              </a:ext>
            </a:extLst>
          </p:cNvPr>
          <p:cNvSpPr>
            <a:spLocks noGrp="1"/>
          </p:cNvSpPr>
          <p:nvPr>
            <p:ph type="title"/>
          </p:nvPr>
        </p:nvSpPr>
        <p:spPr>
          <a:xfrm>
            <a:off x="995748" y="608901"/>
            <a:ext cx="10200503" cy="5640198"/>
          </a:xfrm>
        </p:spPr>
        <p:txBody>
          <a:bodyPr/>
          <a:lstStyle/>
          <a:p>
            <a:pPr algn="ctr"/>
            <a:r>
              <a:rPr lang="en-US" dirty="0"/>
              <a:t>Market Dataset 4</a:t>
            </a:r>
          </a:p>
        </p:txBody>
      </p:sp>
    </p:spTree>
    <p:extLst>
      <p:ext uri="{BB962C8B-B14F-4D97-AF65-F5344CB8AC3E}">
        <p14:creationId xmlns:p14="http://schemas.microsoft.com/office/powerpoint/2010/main" val="3767782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BF7C6-7F2D-7FB7-EC9A-E9C5D76EBDC0}"/>
              </a:ext>
            </a:extLst>
          </p:cNvPr>
          <p:cNvSpPr>
            <a:spLocks noGrp="1"/>
          </p:cNvSpPr>
          <p:nvPr>
            <p:ph type="title"/>
          </p:nvPr>
        </p:nvSpPr>
        <p:spPr/>
        <p:txBody>
          <a:bodyPr/>
          <a:lstStyle/>
          <a:p>
            <a:endParaRPr lang="en-US"/>
          </a:p>
        </p:txBody>
      </p:sp>
      <p:graphicFrame>
        <p:nvGraphicFramePr>
          <p:cNvPr id="6" name="Content Placeholder 4">
            <a:extLst>
              <a:ext uri="{FF2B5EF4-FFF2-40B4-BE49-F238E27FC236}">
                <a16:creationId xmlns:a16="http://schemas.microsoft.com/office/drawing/2014/main" id="{718AB482-DA6D-4C1B-F08D-DFEA7F360024}"/>
              </a:ext>
            </a:extLst>
          </p:cNvPr>
          <p:cNvGraphicFramePr>
            <a:graphicFrameLocks noGrp="1"/>
          </p:cNvGraphicFramePr>
          <p:nvPr>
            <p:ph idx="1"/>
            <p:extLst>
              <p:ext uri="{D42A27DB-BD31-4B8C-83A1-F6EECF244321}">
                <p14:modId xmlns:p14="http://schemas.microsoft.com/office/powerpoint/2010/main" val="2845740412"/>
              </p:ext>
            </p:extLst>
          </p:nvPr>
        </p:nvGraphicFramePr>
        <p:xfrm>
          <a:off x="0" y="0"/>
          <a:ext cx="12191999" cy="6857995"/>
        </p:xfrm>
        <a:graphic>
          <a:graphicData uri="http://schemas.openxmlformats.org/drawingml/2006/table">
            <a:tbl>
              <a:tblPr firstRow="1" bandRow="1">
                <a:tableStyleId>{5C22544A-7EE6-4342-B048-85BDC9FD1C3A}</a:tableStyleId>
              </a:tblPr>
              <a:tblGrid>
                <a:gridCol w="2351499">
                  <a:extLst>
                    <a:ext uri="{9D8B030D-6E8A-4147-A177-3AD203B41FA5}">
                      <a16:colId xmlns:a16="http://schemas.microsoft.com/office/drawing/2014/main" val="169913224"/>
                    </a:ext>
                  </a:extLst>
                </a:gridCol>
                <a:gridCol w="1186432">
                  <a:extLst>
                    <a:ext uri="{9D8B030D-6E8A-4147-A177-3AD203B41FA5}">
                      <a16:colId xmlns:a16="http://schemas.microsoft.com/office/drawing/2014/main" val="250676537"/>
                    </a:ext>
                  </a:extLst>
                </a:gridCol>
                <a:gridCol w="1683078">
                  <a:extLst>
                    <a:ext uri="{9D8B030D-6E8A-4147-A177-3AD203B41FA5}">
                      <a16:colId xmlns:a16="http://schemas.microsoft.com/office/drawing/2014/main" val="4277830208"/>
                    </a:ext>
                  </a:extLst>
                </a:gridCol>
                <a:gridCol w="2910897">
                  <a:extLst>
                    <a:ext uri="{9D8B030D-6E8A-4147-A177-3AD203B41FA5}">
                      <a16:colId xmlns:a16="http://schemas.microsoft.com/office/drawing/2014/main" val="2291355531"/>
                    </a:ext>
                  </a:extLst>
                </a:gridCol>
                <a:gridCol w="2303886">
                  <a:extLst>
                    <a:ext uri="{9D8B030D-6E8A-4147-A177-3AD203B41FA5}">
                      <a16:colId xmlns:a16="http://schemas.microsoft.com/office/drawing/2014/main" val="4127173591"/>
                    </a:ext>
                  </a:extLst>
                </a:gridCol>
                <a:gridCol w="1756207">
                  <a:extLst>
                    <a:ext uri="{9D8B030D-6E8A-4147-A177-3AD203B41FA5}">
                      <a16:colId xmlns:a16="http://schemas.microsoft.com/office/drawing/2014/main" val="2113002554"/>
                    </a:ext>
                  </a:extLst>
                </a:gridCol>
              </a:tblGrid>
              <a:tr h="758345">
                <a:tc>
                  <a:txBody>
                    <a:bodyPr/>
                    <a:lstStyle/>
                    <a:p>
                      <a:pPr algn="ctr" fontAlgn="b">
                        <a:buNone/>
                      </a:pPr>
                      <a:r>
                        <a:rPr lang="en-US" sz="1400" b="0" i="0" u="none" strike="noStrike" dirty="0">
                          <a:solidFill>
                            <a:srgbClr val="000000"/>
                          </a:solidFill>
                          <a:effectLst/>
                          <a:latin typeface="Aptos Narrow" panose="020B0004020202020204" pitchFamily="34" charset="0"/>
                        </a:rPr>
                        <a:t>address</a:t>
                      </a:r>
                    </a:p>
                  </a:txBody>
                  <a:tcPr marL="9525" marR="9525" marT="9525" marB="0" anchor="b"/>
                </a:tc>
                <a:tc>
                  <a:txBody>
                    <a:bodyPr/>
                    <a:lstStyle/>
                    <a:p>
                      <a:pPr algn="ctr" fontAlgn="b">
                        <a:buNone/>
                      </a:pPr>
                      <a:r>
                        <a:rPr lang="en-US" sz="1400" b="0" i="0" u="none" strike="noStrike" dirty="0" err="1">
                          <a:solidFill>
                            <a:srgbClr val="000000"/>
                          </a:solidFill>
                          <a:effectLst/>
                          <a:latin typeface="Aptos Narrow" panose="020B0004020202020204" pitchFamily="34" charset="0"/>
                        </a:rPr>
                        <a:t>year_built</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400" b="0" i="0" u="none" strike="noStrike" dirty="0" err="1">
                          <a:solidFill>
                            <a:srgbClr val="000000"/>
                          </a:solidFill>
                          <a:effectLst/>
                          <a:latin typeface="Aptos Narrow" panose="020B0004020202020204" pitchFamily="34" charset="0"/>
                        </a:rPr>
                        <a:t>initial_ppsf</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400" b="0" i="0" u="none" strike="noStrike" dirty="0" err="1">
                          <a:solidFill>
                            <a:srgbClr val="000000"/>
                          </a:solidFill>
                          <a:effectLst/>
                          <a:latin typeface="Aptos Narrow" panose="020B0004020202020204" pitchFamily="34" charset="0"/>
                        </a:rPr>
                        <a:t>latest_ppsf</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400" b="0" i="0" u="none" strike="noStrike" dirty="0" err="1">
                          <a:solidFill>
                            <a:srgbClr val="000000"/>
                          </a:solidFill>
                          <a:effectLst/>
                          <a:latin typeface="Aptos Narrow" panose="020B0004020202020204" pitchFamily="34" charset="0"/>
                        </a:rPr>
                        <a:t>latest_date</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US" sz="1400" b="0" i="0" u="none" strike="noStrike" dirty="0" err="1">
                          <a:solidFill>
                            <a:srgbClr val="000000"/>
                          </a:solidFill>
                          <a:effectLst/>
                          <a:latin typeface="Aptos Narrow" panose="020B0004020202020204" pitchFamily="34" charset="0"/>
                        </a:rPr>
                        <a:t>days_on_market</a:t>
                      </a:r>
                      <a:endParaRPr lang="en-US" sz="14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39490893"/>
                  </a:ext>
                </a:extLst>
              </a:tr>
              <a:tr h="609965">
                <a:tc>
                  <a:txBody>
                    <a:bodyPr/>
                    <a:lstStyle/>
                    <a:p>
                      <a:pPr algn="l" fontAlgn="b">
                        <a:buNone/>
                      </a:pPr>
                      <a:r>
                        <a:rPr lang="en-US" sz="1100" b="0" i="0" u="none" strike="noStrike">
                          <a:solidFill>
                            <a:srgbClr val="000000"/>
                          </a:solidFill>
                          <a:effectLst/>
                          <a:latin typeface="Calibri" panose="020F0502020204030204" pitchFamily="34" charset="0"/>
                        </a:rPr>
                        <a:t>112 Ghost Stories</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$163.67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$163.93 </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5/30/2025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23</a:t>
                      </a:r>
                    </a:p>
                  </a:txBody>
                  <a:tcPr marL="9525" marR="9525" marT="9525" marB="0" anchor="b"/>
                </a:tc>
                <a:extLst>
                  <a:ext uri="{0D108BD9-81ED-4DB2-BD59-A6C34878D82A}">
                    <a16:rowId xmlns:a16="http://schemas.microsoft.com/office/drawing/2014/main" val="3778502439"/>
                  </a:ext>
                </a:extLst>
              </a:tr>
              <a:tr h="609965">
                <a:tc>
                  <a:txBody>
                    <a:bodyPr/>
                    <a:lstStyle/>
                    <a:p>
                      <a:pPr algn="l" fontAlgn="b">
                        <a:buNone/>
                      </a:pPr>
                      <a:r>
                        <a:rPr lang="en-US" sz="1100" b="0" i="0" u="none" strike="noStrike">
                          <a:solidFill>
                            <a:srgbClr val="000000"/>
                          </a:solidFill>
                          <a:effectLst/>
                          <a:latin typeface="Calibri" panose="020F0502020204030204" pitchFamily="34" charset="0"/>
                        </a:rPr>
                        <a:t>324 Twilight Breeze Way</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$170.33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$163.93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3/27/2025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10</a:t>
                      </a:r>
                    </a:p>
                  </a:txBody>
                  <a:tcPr marL="9525" marR="9525" marT="9525" marB="0" anchor="b"/>
                </a:tc>
                <a:extLst>
                  <a:ext uri="{0D108BD9-81ED-4DB2-BD59-A6C34878D82A}">
                    <a16:rowId xmlns:a16="http://schemas.microsoft.com/office/drawing/2014/main" val="1815843932"/>
                  </a:ext>
                </a:extLst>
              </a:tr>
              <a:tr h="609965">
                <a:tc>
                  <a:txBody>
                    <a:bodyPr/>
                    <a:lstStyle/>
                    <a:p>
                      <a:pPr algn="l" fontAlgn="b">
                        <a:buNone/>
                      </a:pPr>
                      <a:r>
                        <a:rPr lang="en-US" sz="1100" b="0" i="0" u="none" strike="noStrike">
                          <a:solidFill>
                            <a:srgbClr val="000000"/>
                          </a:solidFill>
                          <a:effectLst/>
                          <a:latin typeface="Calibri" panose="020F0502020204030204" pitchFamily="34" charset="0"/>
                        </a:rPr>
                        <a:t>718 Luna Vista Dr</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2015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$161.53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$161.53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6/27/2025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69</a:t>
                      </a:r>
                    </a:p>
                  </a:txBody>
                  <a:tcPr marL="9525" marR="9525" marT="9525" marB="0" anchor="b"/>
                </a:tc>
                <a:extLst>
                  <a:ext uri="{0D108BD9-81ED-4DB2-BD59-A6C34878D82A}">
                    <a16:rowId xmlns:a16="http://schemas.microsoft.com/office/drawing/2014/main" val="2731549367"/>
                  </a:ext>
                </a:extLst>
              </a:tr>
              <a:tr h="609965">
                <a:tc>
                  <a:txBody>
                    <a:bodyPr/>
                    <a:lstStyle/>
                    <a:p>
                      <a:pPr algn="l" fontAlgn="b">
                        <a:buNone/>
                      </a:pPr>
                      <a:r>
                        <a:rPr lang="en-US" sz="1100" b="0" i="0" u="none" strike="noStrike">
                          <a:solidFill>
                            <a:srgbClr val="000000"/>
                          </a:solidFill>
                          <a:effectLst/>
                          <a:latin typeface="Calibri" panose="020F0502020204030204" pitchFamily="34" charset="0"/>
                        </a:rPr>
                        <a:t>721 Luna Vista Dr</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2015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$161.03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$161.03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8/7/2025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87</a:t>
                      </a:r>
                    </a:p>
                  </a:txBody>
                  <a:tcPr marL="9525" marR="9525" marT="9525" marB="0" anchor="b"/>
                </a:tc>
                <a:extLst>
                  <a:ext uri="{0D108BD9-81ED-4DB2-BD59-A6C34878D82A}">
                    <a16:rowId xmlns:a16="http://schemas.microsoft.com/office/drawing/2014/main" val="2763984890"/>
                  </a:ext>
                </a:extLst>
              </a:tr>
              <a:tr h="609965">
                <a:tc>
                  <a:txBody>
                    <a:bodyPr/>
                    <a:lstStyle/>
                    <a:p>
                      <a:pPr algn="l" fontAlgn="b">
                        <a:buNone/>
                      </a:pPr>
                      <a:r>
                        <a:rPr lang="en-US" sz="1100" b="0" i="0" u="none" strike="noStrike">
                          <a:solidFill>
                            <a:srgbClr val="000000"/>
                          </a:solidFill>
                          <a:effectLst/>
                          <a:latin typeface="Calibri" panose="020F0502020204030204" pitchFamily="34" charset="0"/>
                        </a:rPr>
                        <a:t>209 Twilight Breeze Way</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$161.37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$158.88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11/25/2025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24</a:t>
                      </a:r>
                    </a:p>
                  </a:txBody>
                  <a:tcPr marL="9525" marR="9525" marT="9525" marB="0" anchor="b"/>
                </a:tc>
                <a:extLst>
                  <a:ext uri="{0D108BD9-81ED-4DB2-BD59-A6C34878D82A}">
                    <a16:rowId xmlns:a16="http://schemas.microsoft.com/office/drawing/2014/main" val="3448139037"/>
                  </a:ext>
                </a:extLst>
              </a:tr>
              <a:tr h="609965">
                <a:tc>
                  <a:txBody>
                    <a:bodyPr/>
                    <a:lstStyle/>
                    <a:p>
                      <a:pPr algn="l" fontAlgn="b">
                        <a:buNone/>
                      </a:pPr>
                      <a:r>
                        <a:rPr lang="en-US" sz="1100" b="0" i="0" u="none" strike="noStrike">
                          <a:solidFill>
                            <a:srgbClr val="000000"/>
                          </a:solidFill>
                          <a:effectLst/>
                          <a:latin typeface="Calibri" panose="020F0502020204030204" pitchFamily="34" charset="0"/>
                        </a:rPr>
                        <a:t>702 Luna Vista Dr</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2016</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$168.86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$161.78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7/2/2025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164</a:t>
                      </a:r>
                    </a:p>
                  </a:txBody>
                  <a:tcPr marL="9525" marR="9525" marT="9525" marB="0" anchor="b"/>
                </a:tc>
                <a:extLst>
                  <a:ext uri="{0D108BD9-81ED-4DB2-BD59-A6C34878D82A}">
                    <a16:rowId xmlns:a16="http://schemas.microsoft.com/office/drawing/2014/main" val="4017296377"/>
                  </a:ext>
                </a:extLst>
              </a:tr>
              <a:tr h="609965">
                <a:tc>
                  <a:txBody>
                    <a:bodyPr/>
                    <a:lstStyle/>
                    <a:p>
                      <a:pPr algn="l" fontAlgn="b">
                        <a:buNone/>
                      </a:pPr>
                      <a:r>
                        <a:rPr lang="en-US" sz="1100" b="0" i="0" u="none" strike="noStrike">
                          <a:solidFill>
                            <a:srgbClr val="000000"/>
                          </a:solidFill>
                          <a:effectLst/>
                          <a:latin typeface="Calibri" panose="020F0502020204030204" pitchFamily="34" charset="0"/>
                        </a:rPr>
                        <a:t>106 Miglia St</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$185.75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$151.05 </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10/20/2025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21</a:t>
                      </a:r>
                    </a:p>
                  </a:txBody>
                  <a:tcPr marL="9525" marR="9525" marT="9525" marB="0" anchor="b"/>
                </a:tc>
                <a:extLst>
                  <a:ext uri="{0D108BD9-81ED-4DB2-BD59-A6C34878D82A}">
                    <a16:rowId xmlns:a16="http://schemas.microsoft.com/office/drawing/2014/main" val="3426671939"/>
                  </a:ext>
                </a:extLst>
              </a:tr>
              <a:tr h="609965">
                <a:tc>
                  <a:txBody>
                    <a:bodyPr/>
                    <a:lstStyle/>
                    <a:p>
                      <a:pPr algn="l" fontAlgn="b">
                        <a:buNone/>
                      </a:pPr>
                      <a:r>
                        <a:rPr lang="en-US" sz="1100" b="0" i="0" u="none" strike="noStrike">
                          <a:solidFill>
                            <a:srgbClr val="000000"/>
                          </a:solidFill>
                          <a:effectLst/>
                          <a:latin typeface="Calibri" panose="020F0502020204030204" pitchFamily="34" charset="0"/>
                        </a:rPr>
                        <a:t>221 Twilight Breeze Way</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$164.73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$162.10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11/17/2025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6</a:t>
                      </a:r>
                    </a:p>
                  </a:txBody>
                  <a:tcPr marL="9525" marR="9525" marT="9525" marB="0" anchor="b"/>
                </a:tc>
                <a:extLst>
                  <a:ext uri="{0D108BD9-81ED-4DB2-BD59-A6C34878D82A}">
                    <a16:rowId xmlns:a16="http://schemas.microsoft.com/office/drawing/2014/main" val="1456053924"/>
                  </a:ext>
                </a:extLst>
              </a:tr>
              <a:tr h="609965">
                <a:tc>
                  <a:txBody>
                    <a:bodyPr/>
                    <a:lstStyle/>
                    <a:p>
                      <a:pPr algn="l" fontAlgn="b">
                        <a:buNone/>
                      </a:pPr>
                      <a:r>
                        <a:rPr lang="en-US" sz="1100" b="0" i="0" u="none" strike="noStrike">
                          <a:solidFill>
                            <a:srgbClr val="000000"/>
                          </a:solidFill>
                          <a:effectLst/>
                          <a:latin typeface="Calibri" panose="020F0502020204030204" pitchFamily="34" charset="0"/>
                        </a:rPr>
                        <a:t>101 Acadia Cv</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2017</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$163.05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$148.16 </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12/29/2025</a:t>
                      </a:r>
                    </a:p>
                  </a:txBody>
                  <a:tcPr marL="9525" marR="9525" marT="9525" marB="0" anchor="b"/>
                </a:tc>
                <a:tc>
                  <a:txBody>
                    <a:bodyPr/>
                    <a:lstStyle/>
                    <a:p>
                      <a:pPr algn="r" fontAlgn="b">
                        <a:buNone/>
                      </a:pPr>
                      <a:r>
                        <a:rPr lang="en-US" sz="1100" b="0" i="0" u="none" strike="noStrike">
                          <a:solidFill>
                            <a:srgbClr val="000000"/>
                          </a:solidFill>
                          <a:effectLst/>
                          <a:latin typeface="Calibri" panose="020F0502020204030204" pitchFamily="34" charset="0"/>
                        </a:rPr>
                        <a:t>25</a:t>
                      </a:r>
                    </a:p>
                  </a:txBody>
                  <a:tcPr marL="9525" marR="9525" marT="9525" marB="0" anchor="b"/>
                </a:tc>
                <a:extLst>
                  <a:ext uri="{0D108BD9-81ED-4DB2-BD59-A6C34878D82A}">
                    <a16:rowId xmlns:a16="http://schemas.microsoft.com/office/drawing/2014/main" val="154576843"/>
                  </a:ext>
                </a:extLst>
              </a:tr>
              <a:tr h="609965">
                <a:tc>
                  <a:txBody>
                    <a:bodyPr/>
                    <a:lstStyle/>
                    <a:p>
                      <a:pPr algn="l" fontAlgn="b">
                        <a:buNone/>
                      </a:pPr>
                      <a:r>
                        <a:rPr lang="en-US" sz="1100" b="0" i="0" u="none" strike="noStrike">
                          <a:solidFill>
                            <a:srgbClr val="000000"/>
                          </a:solidFill>
                          <a:effectLst/>
                          <a:latin typeface="Calibri" panose="020F0502020204030204" pitchFamily="34" charset="0"/>
                        </a:rPr>
                        <a:t>807 Farm House Dr</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2015</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$153.30 </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$156.36 </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7/8/2025</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8</a:t>
                      </a:r>
                    </a:p>
                  </a:txBody>
                  <a:tcPr marL="9525" marR="9525" marT="9525" marB="0" anchor="b"/>
                </a:tc>
                <a:extLst>
                  <a:ext uri="{0D108BD9-81ED-4DB2-BD59-A6C34878D82A}">
                    <a16:rowId xmlns:a16="http://schemas.microsoft.com/office/drawing/2014/main" val="3552446063"/>
                  </a:ext>
                </a:extLst>
              </a:tr>
            </a:tbl>
          </a:graphicData>
        </a:graphic>
      </p:graphicFrame>
    </p:spTree>
    <p:extLst>
      <p:ext uri="{BB962C8B-B14F-4D97-AF65-F5344CB8AC3E}">
        <p14:creationId xmlns:p14="http://schemas.microsoft.com/office/powerpoint/2010/main" val="2536827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D8E0DA4E-2A0B-8F9A-9E99-13D3C3DBAE99}"/>
              </a:ext>
            </a:extLst>
          </p:cNvPr>
          <p:cNvSpPr>
            <a:spLocks noGrp="1"/>
          </p:cNvSpPr>
          <p:nvPr>
            <p:ph idx="1"/>
          </p:nvPr>
        </p:nvSpPr>
        <p:spPr>
          <a:xfrm>
            <a:off x="402231" y="1206555"/>
            <a:ext cx="9872871" cy="5106188"/>
          </a:xfrm>
        </p:spPr>
        <p:txBody>
          <a:bodyPr>
            <a:normAutofit/>
          </a:bodyPr>
          <a:lstStyle/>
          <a:p>
            <a:r>
              <a:rPr lang="en-US" dirty="0"/>
              <a:t>Tax Appraisal Value average = 307,573</a:t>
            </a:r>
          </a:p>
          <a:p>
            <a:r>
              <a:rPr lang="en-US" dirty="0"/>
              <a:t>Average Sale Price = 311,920</a:t>
            </a:r>
          </a:p>
          <a:p>
            <a:r>
              <a:rPr lang="en-US" dirty="0"/>
              <a:t>43.7 Average DOM</a:t>
            </a:r>
          </a:p>
          <a:p>
            <a:r>
              <a:rPr lang="en-US" dirty="0"/>
              <a:t>23.5 Median DOM</a:t>
            </a:r>
          </a:p>
          <a:p>
            <a:r>
              <a:rPr lang="en-US" dirty="0"/>
              <a:t>1.85x DOM pressure ratio</a:t>
            </a:r>
          </a:p>
          <a:p>
            <a:r>
              <a:rPr lang="en-US" dirty="0"/>
              <a:t>Extended market exposure oscillated price reductions, 80% of comparable properties require price concessions before achieving their sold market value</a:t>
            </a:r>
          </a:p>
          <a:p>
            <a:r>
              <a:rPr lang="en-US" dirty="0"/>
              <a:t>There was an average of -6.48% reduction in home value from initial listing to final sale value (“market correction” that can be titled for DOM pressure and price reduction correlation”)</a:t>
            </a:r>
          </a:p>
        </p:txBody>
      </p:sp>
      <p:sp>
        <p:nvSpPr>
          <p:cNvPr id="2" name="TextBox 1">
            <a:extLst>
              <a:ext uri="{FF2B5EF4-FFF2-40B4-BE49-F238E27FC236}">
                <a16:creationId xmlns:a16="http://schemas.microsoft.com/office/drawing/2014/main" id="{B8D344D6-A2AE-3469-D6D0-7E8ABED1B4BC}"/>
              </a:ext>
            </a:extLst>
          </p:cNvPr>
          <p:cNvSpPr txBox="1"/>
          <p:nvPr/>
        </p:nvSpPr>
        <p:spPr>
          <a:xfrm>
            <a:off x="402231" y="375558"/>
            <a:ext cx="4866056" cy="830997"/>
          </a:xfrm>
          <a:prstGeom prst="rect">
            <a:avLst/>
          </a:prstGeom>
          <a:noFill/>
        </p:spPr>
        <p:txBody>
          <a:bodyPr wrap="square">
            <a:spAutoFit/>
          </a:bodyPr>
          <a:lstStyle/>
          <a:p>
            <a:pPr marL="45720" indent="0">
              <a:buNone/>
            </a:pPr>
            <a:r>
              <a:rPr lang="en-US" sz="4800" dirty="0">
                <a:solidFill>
                  <a:schemeClr val="accent1"/>
                </a:solidFill>
              </a:rPr>
              <a:t>Dataset 4</a:t>
            </a:r>
          </a:p>
        </p:txBody>
      </p:sp>
    </p:spTree>
    <p:extLst>
      <p:ext uri="{BB962C8B-B14F-4D97-AF65-F5344CB8AC3E}">
        <p14:creationId xmlns:p14="http://schemas.microsoft.com/office/powerpoint/2010/main" val="321409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4D1E-D5A4-37AF-FAE7-4B67A29FB82E}"/>
              </a:ext>
            </a:extLst>
          </p:cNvPr>
          <p:cNvSpPr>
            <a:spLocks noGrp="1"/>
          </p:cNvSpPr>
          <p:nvPr>
            <p:ph type="title"/>
          </p:nvPr>
        </p:nvSpPr>
        <p:spPr>
          <a:xfrm>
            <a:off x="1158240" y="2750820"/>
            <a:ext cx="9875520" cy="1356360"/>
          </a:xfrm>
        </p:spPr>
        <p:txBody>
          <a:bodyPr/>
          <a:lstStyle/>
          <a:p>
            <a:pPr algn="ctr"/>
            <a:r>
              <a:rPr lang="en-US" dirty="0"/>
              <a:t>Miscellaneous Analysis</a:t>
            </a:r>
          </a:p>
        </p:txBody>
      </p:sp>
    </p:spTree>
    <p:extLst>
      <p:ext uri="{BB962C8B-B14F-4D97-AF65-F5344CB8AC3E}">
        <p14:creationId xmlns:p14="http://schemas.microsoft.com/office/powerpoint/2010/main" val="2365578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423F1071-25F2-7527-9841-CDC8247A212E}"/>
              </a:ext>
            </a:extLst>
          </p:cNvPr>
          <p:cNvGraphicFramePr>
            <a:graphicFrameLocks noGrp="1"/>
          </p:cNvGraphicFramePr>
          <p:nvPr>
            <p:ph idx="1"/>
            <p:extLst>
              <p:ext uri="{D42A27DB-BD31-4B8C-83A1-F6EECF244321}">
                <p14:modId xmlns:p14="http://schemas.microsoft.com/office/powerpoint/2010/main" val="2569887684"/>
              </p:ext>
            </p:extLst>
          </p:nvPr>
        </p:nvGraphicFramePr>
        <p:xfrm>
          <a:off x="999455" y="1300369"/>
          <a:ext cx="10193089" cy="3139210"/>
        </p:xfrm>
        <a:graphic>
          <a:graphicData uri="http://schemas.openxmlformats.org/drawingml/2006/table">
            <a:tbl>
              <a:tblPr firstRow="1" bandRow="1">
                <a:tableStyleId>{5C22544A-7EE6-4342-B048-85BDC9FD1C3A}</a:tableStyleId>
              </a:tblPr>
              <a:tblGrid>
                <a:gridCol w="5071533">
                  <a:extLst>
                    <a:ext uri="{9D8B030D-6E8A-4147-A177-3AD203B41FA5}">
                      <a16:colId xmlns:a16="http://schemas.microsoft.com/office/drawing/2014/main" val="169913224"/>
                    </a:ext>
                  </a:extLst>
                </a:gridCol>
                <a:gridCol w="5121556">
                  <a:extLst>
                    <a:ext uri="{9D8B030D-6E8A-4147-A177-3AD203B41FA5}">
                      <a16:colId xmlns:a16="http://schemas.microsoft.com/office/drawing/2014/main" val="2113002554"/>
                    </a:ext>
                  </a:extLst>
                </a:gridCol>
              </a:tblGrid>
              <a:tr h="476281">
                <a:tc>
                  <a:txBody>
                    <a:bodyPr/>
                    <a:lstStyle/>
                    <a:p>
                      <a:pPr algn="ctr" fontAlgn="b">
                        <a:buNone/>
                      </a:pPr>
                      <a:r>
                        <a:rPr lang="en-US" sz="1400" b="0" i="0" u="none" strike="noStrike" dirty="0">
                          <a:solidFill>
                            <a:srgbClr val="000000"/>
                          </a:solidFill>
                          <a:effectLst/>
                          <a:latin typeface="Aptos Narrow" panose="020B0004020202020204" pitchFamily="34" charset="0"/>
                        </a:rPr>
                        <a:t>Itemization</a:t>
                      </a:r>
                    </a:p>
                  </a:txBody>
                  <a:tcPr marL="9525" marR="9525" marT="9525" marB="0" anchor="b"/>
                </a:tc>
                <a:tc>
                  <a:txBody>
                    <a:bodyPr/>
                    <a:lstStyle/>
                    <a:p>
                      <a:pPr algn="ctr" fontAlgn="b">
                        <a:buNone/>
                      </a:pPr>
                      <a:r>
                        <a:rPr lang="en-US" sz="1400" b="0" i="0" u="none" strike="noStrike" dirty="0">
                          <a:solidFill>
                            <a:srgbClr val="000000"/>
                          </a:solidFill>
                          <a:effectLst/>
                          <a:latin typeface="Aptos Narrow" panose="020B0004020202020204" pitchFamily="34" charset="0"/>
                        </a:rPr>
                        <a:t>Cost </a:t>
                      </a:r>
                    </a:p>
                  </a:txBody>
                  <a:tcPr marL="9525" marR="9525" marT="9525" marB="0" anchor="b"/>
                </a:tc>
                <a:extLst>
                  <a:ext uri="{0D108BD9-81ED-4DB2-BD59-A6C34878D82A}">
                    <a16:rowId xmlns:a16="http://schemas.microsoft.com/office/drawing/2014/main" val="3539490893"/>
                  </a:ext>
                </a:extLst>
              </a:tr>
              <a:tr h="295881">
                <a:tc>
                  <a:txBody>
                    <a:bodyPr/>
                    <a:lstStyle/>
                    <a:p>
                      <a:pPr algn="l" fontAlgn="b">
                        <a:buNone/>
                      </a:pPr>
                      <a:r>
                        <a:rPr lang="en-US" sz="1100" dirty="0"/>
                        <a:t>Repair drywall holes($135 labor + $15)</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$150</a:t>
                      </a:r>
                    </a:p>
                  </a:txBody>
                  <a:tcPr marL="9525" marR="9525" marT="9525" marB="0" anchor="b"/>
                </a:tc>
                <a:extLst>
                  <a:ext uri="{0D108BD9-81ED-4DB2-BD59-A6C34878D82A}">
                    <a16:rowId xmlns:a16="http://schemas.microsoft.com/office/drawing/2014/main" val="1815843932"/>
                  </a:ext>
                </a:extLst>
              </a:tr>
              <a:tr h="295881">
                <a:tc>
                  <a:txBody>
                    <a:bodyPr/>
                    <a:lstStyle/>
                    <a:p>
                      <a:pPr algn="l" fontAlgn="b">
                        <a:buNone/>
                      </a:pPr>
                      <a:r>
                        <a:rPr lang="en-US" sz="1100" dirty="0"/>
                        <a:t>Repair of Remaining Roof ($24505 full restoration- $3545 repaired))</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$20,959</a:t>
                      </a:r>
                    </a:p>
                  </a:txBody>
                  <a:tcPr marL="9525" marR="9525" marT="9525" marB="0" anchor="b"/>
                </a:tc>
                <a:extLst>
                  <a:ext uri="{0D108BD9-81ED-4DB2-BD59-A6C34878D82A}">
                    <a16:rowId xmlns:a16="http://schemas.microsoft.com/office/drawing/2014/main" val="2731549367"/>
                  </a:ext>
                </a:extLst>
              </a:tr>
              <a:tr h="295881">
                <a:tc>
                  <a:txBody>
                    <a:bodyPr/>
                    <a:lstStyle/>
                    <a:p>
                      <a:pPr algn="l" fontAlgn="b">
                        <a:buNone/>
                      </a:pPr>
                      <a:r>
                        <a:rPr lang="en-US" sz="1100" dirty="0"/>
                        <a:t>Lawn restoration / landscaping (dead grass and trees)($135 labor + $66 plants)</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$201</a:t>
                      </a:r>
                    </a:p>
                  </a:txBody>
                  <a:tcPr marL="9525" marR="9525" marT="9525" marB="0" anchor="b"/>
                </a:tc>
                <a:extLst>
                  <a:ext uri="{0D108BD9-81ED-4DB2-BD59-A6C34878D82A}">
                    <a16:rowId xmlns:a16="http://schemas.microsoft.com/office/drawing/2014/main" val="2763984890"/>
                  </a:ext>
                </a:extLst>
              </a:tr>
              <a:tr h="295881">
                <a:tc>
                  <a:txBody>
                    <a:bodyPr/>
                    <a:lstStyle/>
                    <a:p>
                      <a:pPr algn="l" fontAlgn="b">
                        <a:buNone/>
                      </a:pPr>
                      <a:r>
                        <a:rPr lang="en-US" sz="1100" b="0" i="0" u="none" strike="noStrike" dirty="0">
                          <a:solidFill>
                            <a:srgbClr val="000000"/>
                          </a:solidFill>
                          <a:effectLst/>
                          <a:latin typeface="Calibri" panose="020F0502020204030204" pitchFamily="34" charset="0"/>
                        </a:rPr>
                        <a:t>Interior Water Intrusion (Drywall and texture repair, ceiling finishing)</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$3000</a:t>
                      </a:r>
                    </a:p>
                  </a:txBody>
                  <a:tcPr marL="9525" marR="9525" marT="9525" marB="0" anchor="b"/>
                </a:tc>
                <a:extLst>
                  <a:ext uri="{0D108BD9-81ED-4DB2-BD59-A6C34878D82A}">
                    <a16:rowId xmlns:a16="http://schemas.microsoft.com/office/drawing/2014/main" val="2955740038"/>
                  </a:ext>
                </a:extLst>
              </a:tr>
              <a:tr h="295881">
                <a:tc>
                  <a:txBody>
                    <a:bodyPr/>
                    <a:lstStyle/>
                    <a:p>
                      <a:pPr algn="l" fontAlgn="b">
                        <a:buNone/>
                      </a:pPr>
                      <a:r>
                        <a:rPr lang="en-US" sz="1100" b="0" i="0" u="none" strike="noStrike" dirty="0">
                          <a:solidFill>
                            <a:srgbClr val="000000"/>
                          </a:solidFill>
                          <a:effectLst/>
                          <a:latin typeface="Calibri" panose="020F0502020204030204" pitchFamily="34" charset="0"/>
                        </a:rPr>
                        <a:t>Sterilization </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$600</a:t>
                      </a:r>
                    </a:p>
                  </a:txBody>
                  <a:tcPr marL="9525" marR="9525" marT="9525" marB="0" anchor="b"/>
                </a:tc>
                <a:extLst>
                  <a:ext uri="{0D108BD9-81ED-4DB2-BD59-A6C34878D82A}">
                    <a16:rowId xmlns:a16="http://schemas.microsoft.com/office/drawing/2014/main" val="693065326"/>
                  </a:ext>
                </a:extLst>
              </a:tr>
              <a:tr h="295881">
                <a:tc>
                  <a:txBody>
                    <a:bodyPr/>
                    <a:lstStyle/>
                    <a:p>
                      <a:pPr algn="l" fontAlgn="b">
                        <a:buNone/>
                      </a:pPr>
                      <a:r>
                        <a:rPr lang="en-US" sz="1100" b="0" i="0" u="none" strike="noStrike" dirty="0">
                          <a:solidFill>
                            <a:srgbClr val="000000"/>
                          </a:solidFill>
                          <a:effectLst/>
                          <a:latin typeface="Calibri" panose="020F0502020204030204" pitchFamily="34" charset="0"/>
                        </a:rPr>
                        <a:t>Irreplicable damaged flooring </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$40</a:t>
                      </a:r>
                    </a:p>
                  </a:txBody>
                  <a:tcPr marL="9525" marR="9525" marT="9525" marB="0" anchor="b"/>
                </a:tc>
                <a:extLst>
                  <a:ext uri="{0D108BD9-81ED-4DB2-BD59-A6C34878D82A}">
                    <a16:rowId xmlns:a16="http://schemas.microsoft.com/office/drawing/2014/main" val="3421304685"/>
                  </a:ext>
                </a:extLst>
              </a:tr>
              <a:tr h="295881">
                <a:tc>
                  <a:txBody>
                    <a:bodyPr/>
                    <a:lstStyle/>
                    <a:p>
                      <a:pPr algn="l" fontAlgn="b">
                        <a:buNone/>
                      </a:pPr>
                      <a:r>
                        <a:rPr lang="en-US" sz="1100" b="0" i="0" u="none" strike="noStrike" dirty="0">
                          <a:solidFill>
                            <a:srgbClr val="000000"/>
                          </a:solidFill>
                          <a:effectLst/>
                          <a:latin typeface="Calibri" panose="020F0502020204030204" pitchFamily="34" charset="0"/>
                        </a:rPr>
                        <a:t>Broken fence pieces with adjacent neighbors</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$105</a:t>
                      </a:r>
                    </a:p>
                  </a:txBody>
                  <a:tcPr marL="9525" marR="9525" marT="9525" marB="0" anchor="b"/>
                </a:tc>
                <a:extLst>
                  <a:ext uri="{0D108BD9-81ED-4DB2-BD59-A6C34878D82A}">
                    <a16:rowId xmlns:a16="http://schemas.microsoft.com/office/drawing/2014/main" val="201270087"/>
                  </a:ext>
                </a:extLst>
              </a:tr>
              <a:tr h="295881">
                <a:tc>
                  <a:txBody>
                    <a:bodyPr/>
                    <a:lstStyle/>
                    <a:p>
                      <a:pPr algn="l" fontAlgn="b">
                        <a:buNone/>
                      </a:pPr>
                      <a:r>
                        <a:rPr lang="en-US" sz="1100" b="0" i="0" u="none" strike="noStrike" dirty="0">
                          <a:solidFill>
                            <a:srgbClr val="000000"/>
                          </a:solidFill>
                          <a:effectLst/>
                          <a:latin typeface="Calibri" panose="020F0502020204030204" pitchFamily="34" charset="0"/>
                        </a:rPr>
                        <a:t>Irrigation issues</a:t>
                      </a:r>
                    </a:p>
                  </a:txBody>
                  <a:tcPr marL="9525" marR="9525" marT="9525" marB="0" anchor="b"/>
                </a:tc>
                <a:tc>
                  <a:txBody>
                    <a:bodyPr/>
                    <a:lstStyle/>
                    <a:p>
                      <a:pPr algn="r" fontAlgn="b">
                        <a:buNone/>
                      </a:pPr>
                      <a:r>
                        <a:rPr lang="en-US" sz="1100" b="0" i="0" u="none" strike="noStrike" dirty="0">
                          <a:solidFill>
                            <a:srgbClr val="000000"/>
                          </a:solidFill>
                          <a:effectLst/>
                          <a:latin typeface="Calibri" panose="020F0502020204030204" pitchFamily="34" charset="0"/>
                        </a:rPr>
                        <a:t>$900</a:t>
                      </a:r>
                    </a:p>
                  </a:txBody>
                  <a:tcPr marL="9525" marR="9525" marT="9525" marB="0" anchor="b"/>
                </a:tc>
                <a:extLst>
                  <a:ext uri="{0D108BD9-81ED-4DB2-BD59-A6C34878D82A}">
                    <a16:rowId xmlns:a16="http://schemas.microsoft.com/office/drawing/2014/main" val="2312395221"/>
                  </a:ext>
                </a:extLst>
              </a:tr>
              <a:tr h="295881">
                <a:tc>
                  <a:txBody>
                    <a:bodyPr/>
                    <a:lstStyle/>
                    <a:p>
                      <a:pPr algn="l" fontAlgn="b">
                        <a:buNone/>
                      </a:pPr>
                      <a:r>
                        <a:rPr lang="en-US" sz="1600" b="1" i="0" u="none" strike="noStrike" dirty="0">
                          <a:solidFill>
                            <a:srgbClr val="000000"/>
                          </a:solidFill>
                          <a:effectLst/>
                          <a:latin typeface="Calibri" panose="020F0502020204030204" pitchFamily="34" charset="0"/>
                        </a:rPr>
                        <a:t>Total cost to repair property to open market standards</a:t>
                      </a:r>
                    </a:p>
                  </a:txBody>
                  <a:tcPr marL="9525" marR="9525" marT="9525" marB="0" anchor="b"/>
                </a:tc>
                <a:tc>
                  <a:txBody>
                    <a:bodyPr/>
                    <a:lstStyle/>
                    <a:p>
                      <a:pPr algn="r" fontAlgn="b">
                        <a:buNone/>
                      </a:pPr>
                      <a:r>
                        <a:rPr lang="en-US" sz="1600" b="1" i="0" u="none" strike="noStrike" dirty="0">
                          <a:solidFill>
                            <a:srgbClr val="000000"/>
                          </a:solidFill>
                          <a:effectLst/>
                          <a:latin typeface="Calibri" panose="020F0502020204030204" pitchFamily="34" charset="0"/>
                        </a:rPr>
                        <a:t>$25,955</a:t>
                      </a:r>
                    </a:p>
                  </a:txBody>
                  <a:tcPr marL="9525" marR="9525" marT="9525" marB="0" anchor="b"/>
                </a:tc>
                <a:extLst>
                  <a:ext uri="{0D108BD9-81ED-4DB2-BD59-A6C34878D82A}">
                    <a16:rowId xmlns:a16="http://schemas.microsoft.com/office/drawing/2014/main" val="2991747548"/>
                  </a:ext>
                </a:extLst>
              </a:tr>
            </a:tbl>
          </a:graphicData>
        </a:graphic>
      </p:graphicFrame>
      <p:sp>
        <p:nvSpPr>
          <p:cNvPr id="2" name="Title 1">
            <a:extLst>
              <a:ext uri="{FF2B5EF4-FFF2-40B4-BE49-F238E27FC236}">
                <a16:creationId xmlns:a16="http://schemas.microsoft.com/office/drawing/2014/main" id="{7BE4925D-4690-B753-60FB-A40A25C78CC1}"/>
              </a:ext>
            </a:extLst>
          </p:cNvPr>
          <p:cNvSpPr>
            <a:spLocks noGrp="1"/>
          </p:cNvSpPr>
          <p:nvPr>
            <p:ph type="title"/>
          </p:nvPr>
        </p:nvSpPr>
        <p:spPr>
          <a:xfrm>
            <a:off x="346045" y="318167"/>
            <a:ext cx="9875520" cy="1356360"/>
          </a:xfrm>
        </p:spPr>
        <p:txBody>
          <a:bodyPr/>
          <a:lstStyle/>
          <a:p>
            <a:r>
              <a:rPr lang="en-US" dirty="0"/>
              <a:t>Property Repairs</a:t>
            </a:r>
          </a:p>
        </p:txBody>
      </p:sp>
    </p:spTree>
    <p:extLst>
      <p:ext uri="{BB962C8B-B14F-4D97-AF65-F5344CB8AC3E}">
        <p14:creationId xmlns:p14="http://schemas.microsoft.com/office/powerpoint/2010/main" val="3808700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2BF23-B8DF-0675-AD8A-901C3388DDBC}"/>
              </a:ext>
            </a:extLst>
          </p:cNvPr>
          <p:cNvSpPr>
            <a:spLocks noGrp="1"/>
          </p:cNvSpPr>
          <p:nvPr>
            <p:ph type="title"/>
          </p:nvPr>
        </p:nvSpPr>
        <p:spPr>
          <a:xfrm>
            <a:off x="346045" y="318167"/>
            <a:ext cx="9875520" cy="1356360"/>
          </a:xfrm>
        </p:spPr>
        <p:txBody>
          <a:bodyPr/>
          <a:lstStyle/>
          <a:p>
            <a:r>
              <a:rPr lang="en-US" dirty="0"/>
              <a:t>Property Repairs</a:t>
            </a:r>
          </a:p>
        </p:txBody>
      </p:sp>
      <p:graphicFrame>
        <p:nvGraphicFramePr>
          <p:cNvPr id="4" name="Content Placeholder 3">
            <a:extLst>
              <a:ext uri="{FF2B5EF4-FFF2-40B4-BE49-F238E27FC236}">
                <a16:creationId xmlns:a16="http://schemas.microsoft.com/office/drawing/2014/main" id="{3B9FF2FD-3809-1745-9417-4F7A5B7A9847}"/>
              </a:ext>
            </a:extLst>
          </p:cNvPr>
          <p:cNvGraphicFramePr>
            <a:graphicFrameLocks noGrp="1"/>
          </p:cNvGraphicFramePr>
          <p:nvPr>
            <p:ph idx="1"/>
            <p:extLst>
              <p:ext uri="{D42A27DB-BD31-4B8C-83A1-F6EECF244321}">
                <p14:modId xmlns:p14="http://schemas.microsoft.com/office/powerpoint/2010/main" val="1835610677"/>
              </p:ext>
            </p:extLst>
          </p:nvPr>
        </p:nvGraphicFramePr>
        <p:xfrm>
          <a:off x="1159669" y="1300416"/>
          <a:ext cx="9872660" cy="2225040"/>
        </p:xfrm>
        <a:graphic>
          <a:graphicData uri="http://schemas.openxmlformats.org/drawingml/2006/table">
            <a:tbl>
              <a:tblPr firstRow="1" bandRow="1">
                <a:tableStyleId>{5C22544A-7EE6-4342-B048-85BDC9FD1C3A}</a:tableStyleId>
              </a:tblPr>
              <a:tblGrid>
                <a:gridCol w="2811198">
                  <a:extLst>
                    <a:ext uri="{9D8B030D-6E8A-4147-A177-3AD203B41FA5}">
                      <a16:colId xmlns:a16="http://schemas.microsoft.com/office/drawing/2014/main" val="135711217"/>
                    </a:ext>
                  </a:extLst>
                </a:gridCol>
                <a:gridCol w="2616200">
                  <a:extLst>
                    <a:ext uri="{9D8B030D-6E8A-4147-A177-3AD203B41FA5}">
                      <a16:colId xmlns:a16="http://schemas.microsoft.com/office/drawing/2014/main" val="3145898446"/>
                    </a:ext>
                  </a:extLst>
                </a:gridCol>
                <a:gridCol w="1977097">
                  <a:extLst>
                    <a:ext uri="{9D8B030D-6E8A-4147-A177-3AD203B41FA5}">
                      <a16:colId xmlns:a16="http://schemas.microsoft.com/office/drawing/2014/main" val="173413807"/>
                    </a:ext>
                  </a:extLst>
                </a:gridCol>
                <a:gridCol w="2468165">
                  <a:extLst>
                    <a:ext uri="{9D8B030D-6E8A-4147-A177-3AD203B41FA5}">
                      <a16:colId xmlns:a16="http://schemas.microsoft.com/office/drawing/2014/main" val="1562050880"/>
                    </a:ext>
                  </a:extLst>
                </a:gridCol>
              </a:tblGrid>
              <a:tr h="370840">
                <a:tc>
                  <a:txBody>
                    <a:bodyPr/>
                    <a:lstStyle/>
                    <a:p>
                      <a:pPr>
                        <a:buNone/>
                      </a:pPr>
                      <a:r>
                        <a:rPr lang="en-US"/>
                        <a:t>Valuation Method</a:t>
                      </a:r>
                    </a:p>
                  </a:txBody>
                  <a:tcPr anchor="ctr"/>
                </a:tc>
                <a:tc>
                  <a:txBody>
                    <a:bodyPr/>
                    <a:lstStyle/>
                    <a:p>
                      <a:pPr algn="r">
                        <a:buNone/>
                      </a:pPr>
                      <a:r>
                        <a:rPr lang="en-US"/>
                        <a:t>Value Before Repairs</a:t>
                      </a:r>
                    </a:p>
                  </a:txBody>
                  <a:tcPr anchor="ctr"/>
                </a:tc>
                <a:tc>
                  <a:txBody>
                    <a:bodyPr/>
                    <a:lstStyle/>
                    <a:p>
                      <a:pPr algn="r">
                        <a:buNone/>
                      </a:pPr>
                      <a:r>
                        <a:rPr lang="en-US" dirty="0"/>
                        <a:t>Property Repairs</a:t>
                      </a:r>
                    </a:p>
                  </a:txBody>
                  <a:tcPr anchor="ctr"/>
                </a:tc>
                <a:tc>
                  <a:txBody>
                    <a:bodyPr/>
                    <a:lstStyle/>
                    <a:p>
                      <a:pPr algn="r">
                        <a:buNone/>
                      </a:pPr>
                      <a:r>
                        <a:rPr lang="en-US" dirty="0"/>
                        <a:t>Indicated Value</a:t>
                      </a:r>
                    </a:p>
                  </a:txBody>
                  <a:tcPr anchor="ctr"/>
                </a:tc>
                <a:extLst>
                  <a:ext uri="{0D108BD9-81ED-4DB2-BD59-A6C34878D82A}">
                    <a16:rowId xmlns:a16="http://schemas.microsoft.com/office/drawing/2014/main" val="4198817946"/>
                  </a:ext>
                </a:extLst>
              </a:tr>
              <a:tr h="370840">
                <a:tc>
                  <a:txBody>
                    <a:bodyPr/>
                    <a:lstStyle/>
                    <a:p>
                      <a:pPr>
                        <a:buNone/>
                      </a:pPr>
                      <a:r>
                        <a:rPr lang="en-US"/>
                        <a:t>County Appraisal</a:t>
                      </a:r>
                    </a:p>
                  </a:txBody>
                  <a:tcPr anchor="ctr"/>
                </a:tc>
                <a:tc>
                  <a:txBody>
                    <a:bodyPr/>
                    <a:lstStyle/>
                    <a:p>
                      <a:pPr algn="r">
                        <a:buNone/>
                      </a:pPr>
                      <a:r>
                        <a:rPr lang="en-US" dirty="0"/>
                        <a:t>$343,979</a:t>
                      </a:r>
                    </a:p>
                  </a:txBody>
                  <a:tcPr anchor="ctr"/>
                </a:tc>
                <a:tc>
                  <a:txBody>
                    <a:bodyPr/>
                    <a:lstStyle/>
                    <a:p>
                      <a:pPr algn="r"/>
                      <a:r>
                        <a:rPr lang="en-US" dirty="0"/>
                        <a:t>$25,955</a:t>
                      </a:r>
                    </a:p>
                  </a:txBody>
                  <a:tcPr anchor="ctr"/>
                </a:tc>
                <a:tc>
                  <a:txBody>
                    <a:bodyPr/>
                    <a:lstStyle/>
                    <a:p>
                      <a:pPr algn="r">
                        <a:buNone/>
                      </a:pPr>
                      <a:r>
                        <a:rPr lang="en-US" b="1" dirty="0"/>
                        <a:t>$318,024</a:t>
                      </a:r>
                      <a:endParaRPr lang="en-US" dirty="0"/>
                    </a:p>
                  </a:txBody>
                  <a:tcPr anchor="ctr"/>
                </a:tc>
                <a:extLst>
                  <a:ext uri="{0D108BD9-81ED-4DB2-BD59-A6C34878D82A}">
                    <a16:rowId xmlns:a16="http://schemas.microsoft.com/office/drawing/2014/main" val="3493923613"/>
                  </a:ext>
                </a:extLst>
              </a:tr>
              <a:tr h="370840">
                <a:tc>
                  <a:txBody>
                    <a:bodyPr/>
                    <a:lstStyle/>
                    <a:p>
                      <a:pPr>
                        <a:buNone/>
                      </a:pPr>
                      <a:r>
                        <a:rPr lang="en-US" dirty="0"/>
                        <a:t>Dataset 4 average sale</a:t>
                      </a:r>
                    </a:p>
                  </a:txBody>
                  <a:tcPr anchor="ctr"/>
                </a:tc>
                <a:tc>
                  <a:txBody>
                    <a:bodyPr/>
                    <a:lstStyle/>
                    <a:p>
                      <a:pPr algn="r">
                        <a:buNone/>
                      </a:pPr>
                      <a:r>
                        <a:rPr lang="en-US" dirty="0"/>
                        <a:t>$315,000</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rbel" panose="020B0503020204020204"/>
                          <a:ea typeface="+mn-ea"/>
                          <a:cs typeface="+mn-cs"/>
                        </a:rPr>
                        <a:t>$</a:t>
                      </a:r>
                      <a:r>
                        <a:rPr lang="en-US" dirty="0"/>
                        <a:t>25,955</a:t>
                      </a:r>
                      <a:endParaRPr kumimoji="0" lang="en-US" sz="1800" b="0" i="0" u="none" strike="noStrike" kern="1200" cap="none" spc="0" normalizeH="0" baseline="0" noProof="0" dirty="0">
                        <a:ln>
                          <a:noFill/>
                        </a:ln>
                        <a:solidFill>
                          <a:srgbClr val="000000"/>
                        </a:solidFill>
                        <a:effectLst/>
                        <a:uLnTx/>
                        <a:uFillTx/>
                        <a:latin typeface="Corbel" panose="020B0503020204020204"/>
                        <a:ea typeface="+mn-ea"/>
                        <a:cs typeface="+mn-cs"/>
                      </a:endParaRPr>
                    </a:p>
                  </a:txBody>
                  <a:tcPr anchor="ctr"/>
                </a:tc>
                <a:tc>
                  <a:txBody>
                    <a:bodyPr/>
                    <a:lstStyle/>
                    <a:p>
                      <a:pPr algn="r">
                        <a:buNone/>
                      </a:pPr>
                      <a:r>
                        <a:rPr lang="en-US" b="1" dirty="0"/>
                        <a:t>$289,045</a:t>
                      </a:r>
                      <a:endParaRPr lang="en-US" dirty="0"/>
                    </a:p>
                  </a:txBody>
                  <a:tcPr anchor="ctr"/>
                </a:tc>
                <a:extLst>
                  <a:ext uri="{0D108BD9-81ED-4DB2-BD59-A6C34878D82A}">
                    <a16:rowId xmlns:a16="http://schemas.microsoft.com/office/drawing/2014/main" val="3659810507"/>
                  </a:ext>
                </a:extLst>
              </a:tr>
              <a:tr h="370840">
                <a:tc>
                  <a:txBody>
                    <a:bodyPr/>
                    <a:lstStyle/>
                    <a:p>
                      <a:pPr>
                        <a:buNone/>
                      </a:pPr>
                      <a:r>
                        <a:rPr lang="en-US" dirty="0"/>
                        <a:t>Dataset 3 market estimate</a:t>
                      </a:r>
                    </a:p>
                  </a:txBody>
                  <a:tcPr anchor="ctr"/>
                </a:tc>
                <a:tc>
                  <a:txBody>
                    <a:bodyPr/>
                    <a:lstStyle/>
                    <a:p>
                      <a:pPr algn="r">
                        <a:buNone/>
                      </a:pPr>
                      <a:r>
                        <a:rPr lang="en-US"/>
                        <a:t>$300,000</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rbel" panose="020B0503020204020204"/>
                          <a:ea typeface="+mn-ea"/>
                          <a:cs typeface="+mn-cs"/>
                        </a:rPr>
                        <a:t>$</a:t>
                      </a:r>
                      <a:r>
                        <a:rPr lang="en-US" dirty="0"/>
                        <a:t>25,955</a:t>
                      </a:r>
                      <a:endParaRPr kumimoji="0" lang="en-US" sz="1800" b="0" i="0" u="none" strike="noStrike" kern="1200" cap="none" spc="0" normalizeH="0" baseline="0" noProof="0" dirty="0">
                        <a:ln>
                          <a:noFill/>
                        </a:ln>
                        <a:solidFill>
                          <a:srgbClr val="000000"/>
                        </a:solidFill>
                        <a:effectLst/>
                        <a:uLnTx/>
                        <a:uFillTx/>
                        <a:latin typeface="Corbel" panose="020B0503020204020204"/>
                        <a:ea typeface="+mn-ea"/>
                        <a:cs typeface="+mn-cs"/>
                      </a:endParaRPr>
                    </a:p>
                  </a:txBody>
                  <a:tcPr anchor="ctr"/>
                </a:tc>
                <a:tc>
                  <a:txBody>
                    <a:bodyPr/>
                    <a:lstStyle/>
                    <a:p>
                      <a:pPr algn="r">
                        <a:buNone/>
                      </a:pPr>
                      <a:r>
                        <a:rPr lang="en-US" b="1" dirty="0"/>
                        <a:t>$274,045</a:t>
                      </a:r>
                      <a:endParaRPr lang="en-US" dirty="0"/>
                    </a:p>
                  </a:txBody>
                  <a:tcPr anchor="ctr"/>
                </a:tc>
                <a:extLst>
                  <a:ext uri="{0D108BD9-81ED-4DB2-BD59-A6C34878D82A}">
                    <a16:rowId xmlns:a16="http://schemas.microsoft.com/office/drawing/2014/main" val="4028588603"/>
                  </a:ext>
                </a:extLst>
              </a:tr>
              <a:tr h="370840">
                <a:tc>
                  <a:txBody>
                    <a:bodyPr/>
                    <a:lstStyle/>
                    <a:p>
                      <a:pPr>
                        <a:buNone/>
                      </a:pPr>
                      <a:r>
                        <a:rPr lang="en-US" dirty="0"/>
                        <a:t>Dataset 2 F.R. Index </a:t>
                      </a:r>
                    </a:p>
                  </a:txBody>
                  <a:tcPr anchor="ctr"/>
                </a:tc>
                <a:tc>
                  <a:txBody>
                    <a:bodyPr/>
                    <a:lstStyle/>
                    <a:p>
                      <a:pPr algn="r">
                        <a:buNone/>
                      </a:pPr>
                      <a:r>
                        <a:rPr lang="en-US" dirty="0"/>
                        <a:t>$360,903</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rbel" panose="020B0503020204020204"/>
                          <a:ea typeface="+mn-ea"/>
                          <a:cs typeface="+mn-cs"/>
                        </a:rPr>
                        <a:t>$</a:t>
                      </a:r>
                      <a:r>
                        <a:rPr lang="en-US" dirty="0"/>
                        <a:t>25,955</a:t>
                      </a:r>
                      <a:endParaRPr kumimoji="0" lang="en-US" sz="1800" b="0" i="0" u="none" strike="noStrike" kern="1200" cap="none" spc="0" normalizeH="0" baseline="0" noProof="0" dirty="0">
                        <a:ln>
                          <a:noFill/>
                        </a:ln>
                        <a:solidFill>
                          <a:srgbClr val="000000"/>
                        </a:solidFill>
                        <a:effectLst/>
                        <a:uLnTx/>
                        <a:uFillTx/>
                        <a:latin typeface="Corbel" panose="020B0503020204020204"/>
                        <a:ea typeface="+mn-ea"/>
                        <a:cs typeface="+mn-cs"/>
                      </a:endParaRPr>
                    </a:p>
                  </a:txBody>
                  <a:tcPr anchor="ctr"/>
                </a:tc>
                <a:tc>
                  <a:txBody>
                    <a:bodyPr/>
                    <a:lstStyle/>
                    <a:p>
                      <a:pPr algn="r">
                        <a:buNone/>
                      </a:pPr>
                      <a:r>
                        <a:rPr lang="en-US" b="1" dirty="0"/>
                        <a:t>$334,948</a:t>
                      </a:r>
                      <a:endParaRPr lang="en-US" dirty="0"/>
                    </a:p>
                  </a:txBody>
                  <a:tcPr anchor="ctr"/>
                </a:tc>
                <a:extLst>
                  <a:ext uri="{0D108BD9-81ED-4DB2-BD59-A6C34878D82A}">
                    <a16:rowId xmlns:a16="http://schemas.microsoft.com/office/drawing/2014/main" val="2568856144"/>
                  </a:ext>
                </a:extLst>
              </a:tr>
              <a:tr h="370840">
                <a:tc>
                  <a:txBody>
                    <a:bodyPr/>
                    <a:lstStyle/>
                    <a:p>
                      <a:pPr>
                        <a:buNone/>
                      </a:pPr>
                      <a:r>
                        <a:rPr lang="en-US" dirty="0"/>
                        <a:t>Dataset 1 average listing</a:t>
                      </a:r>
                    </a:p>
                  </a:txBody>
                  <a:tcPr anchor="ctr"/>
                </a:tc>
                <a:tc>
                  <a:txBody>
                    <a:bodyPr/>
                    <a:lstStyle/>
                    <a:p>
                      <a:pPr algn="r">
                        <a:buNone/>
                      </a:pPr>
                      <a:r>
                        <a:rPr lang="en-US" dirty="0"/>
                        <a:t>$298,570</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rbel" panose="020B0503020204020204"/>
                          <a:ea typeface="+mn-ea"/>
                          <a:cs typeface="+mn-cs"/>
                        </a:rPr>
                        <a:t>$</a:t>
                      </a:r>
                      <a:r>
                        <a:rPr lang="en-US" dirty="0"/>
                        <a:t>25,955</a:t>
                      </a:r>
                      <a:endParaRPr kumimoji="0" lang="en-US" sz="1800" b="0" i="0" u="none" strike="noStrike" kern="1200" cap="none" spc="0" normalizeH="0" baseline="0" noProof="0" dirty="0">
                        <a:ln>
                          <a:noFill/>
                        </a:ln>
                        <a:solidFill>
                          <a:srgbClr val="000000"/>
                        </a:solidFill>
                        <a:effectLst/>
                        <a:uLnTx/>
                        <a:uFillTx/>
                        <a:latin typeface="Corbel" panose="020B0503020204020204"/>
                        <a:ea typeface="+mn-ea"/>
                        <a:cs typeface="+mn-cs"/>
                      </a:endParaRPr>
                    </a:p>
                  </a:txBody>
                  <a:tcPr anchor="ctr"/>
                </a:tc>
                <a:tc>
                  <a:txBody>
                    <a:bodyPr/>
                    <a:lstStyle/>
                    <a:p>
                      <a:pPr algn="r">
                        <a:buNone/>
                      </a:pPr>
                      <a:r>
                        <a:rPr lang="en-US" b="1" dirty="0"/>
                        <a:t>$272,615</a:t>
                      </a:r>
                      <a:endParaRPr lang="en-US" dirty="0"/>
                    </a:p>
                  </a:txBody>
                  <a:tcPr anchor="ctr"/>
                </a:tc>
                <a:extLst>
                  <a:ext uri="{0D108BD9-81ED-4DB2-BD59-A6C34878D82A}">
                    <a16:rowId xmlns:a16="http://schemas.microsoft.com/office/drawing/2014/main" val="4066267206"/>
                  </a:ext>
                </a:extLst>
              </a:tr>
            </a:tbl>
          </a:graphicData>
        </a:graphic>
      </p:graphicFrame>
      <p:graphicFrame>
        <p:nvGraphicFramePr>
          <p:cNvPr id="5" name="Table 4">
            <a:extLst>
              <a:ext uri="{FF2B5EF4-FFF2-40B4-BE49-F238E27FC236}">
                <a16:creationId xmlns:a16="http://schemas.microsoft.com/office/drawing/2014/main" id="{93E7FD0C-57E4-4963-8D81-DA15137C7CBB}"/>
              </a:ext>
            </a:extLst>
          </p:cNvPr>
          <p:cNvGraphicFramePr>
            <a:graphicFrameLocks noGrp="1"/>
          </p:cNvGraphicFramePr>
          <p:nvPr>
            <p:extLst>
              <p:ext uri="{D42A27DB-BD31-4B8C-83A1-F6EECF244321}">
                <p14:modId xmlns:p14="http://schemas.microsoft.com/office/powerpoint/2010/main" val="622296236"/>
              </p:ext>
            </p:extLst>
          </p:nvPr>
        </p:nvGraphicFramePr>
        <p:xfrm>
          <a:off x="2031999" y="4406105"/>
          <a:ext cx="8128000" cy="741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573152078"/>
                    </a:ext>
                  </a:extLst>
                </a:gridCol>
                <a:gridCol w="4064000">
                  <a:extLst>
                    <a:ext uri="{9D8B030D-6E8A-4147-A177-3AD203B41FA5}">
                      <a16:colId xmlns:a16="http://schemas.microsoft.com/office/drawing/2014/main" val="1822782317"/>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Indicated Value Mean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Indicated Value Median</a:t>
                      </a:r>
                    </a:p>
                  </a:txBody>
                  <a:tcPr/>
                </a:tc>
                <a:extLst>
                  <a:ext uri="{0D108BD9-81ED-4DB2-BD59-A6C34878D82A}">
                    <a16:rowId xmlns:a16="http://schemas.microsoft.com/office/drawing/2014/main" val="1587176465"/>
                  </a:ext>
                </a:extLst>
              </a:tr>
              <a:tr h="370840">
                <a:tc>
                  <a:txBody>
                    <a:bodyPr/>
                    <a:lstStyle/>
                    <a:p>
                      <a:pPr algn="ctr"/>
                      <a:r>
                        <a:rPr lang="en-US" dirty="0"/>
                        <a:t>$297,735</a:t>
                      </a:r>
                    </a:p>
                  </a:txBody>
                  <a:tcPr/>
                </a:tc>
                <a:tc>
                  <a:txBody>
                    <a:bodyPr/>
                    <a:lstStyle/>
                    <a:p>
                      <a:pPr algn="ctr"/>
                      <a:r>
                        <a:rPr lang="en-US" dirty="0"/>
                        <a:t>$289,045</a:t>
                      </a:r>
                    </a:p>
                  </a:txBody>
                  <a:tcPr/>
                </a:tc>
                <a:extLst>
                  <a:ext uri="{0D108BD9-81ED-4DB2-BD59-A6C34878D82A}">
                    <a16:rowId xmlns:a16="http://schemas.microsoft.com/office/drawing/2014/main" val="3128903564"/>
                  </a:ext>
                </a:extLst>
              </a:tr>
            </a:tbl>
          </a:graphicData>
        </a:graphic>
      </p:graphicFrame>
      <p:sp>
        <p:nvSpPr>
          <p:cNvPr id="7" name="Content Placeholder 2">
            <a:extLst>
              <a:ext uri="{FF2B5EF4-FFF2-40B4-BE49-F238E27FC236}">
                <a16:creationId xmlns:a16="http://schemas.microsoft.com/office/drawing/2014/main" id="{EA8A640B-7625-D3BC-E760-809629E3BAE6}"/>
              </a:ext>
            </a:extLst>
          </p:cNvPr>
          <p:cNvSpPr txBox="1">
            <a:spLocks/>
          </p:cNvSpPr>
          <p:nvPr/>
        </p:nvSpPr>
        <p:spPr>
          <a:xfrm>
            <a:off x="459645" y="5388354"/>
            <a:ext cx="11272707" cy="1476462"/>
          </a:xfrm>
          <a:prstGeom prst="rect">
            <a:avLst/>
          </a:prstGeom>
        </p:spPr>
        <p:txBody>
          <a:bodyPr vert="horz" lIns="91440" tIns="45720" rIns="91440" bIns="45720" rtlCol="0">
            <a:normAutofit/>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marL="45720" indent="0">
              <a:buNone/>
            </a:pPr>
            <a:r>
              <a:rPr lang="en-US" dirty="0"/>
              <a:t>The market-supported value currently contains deferred maintenance as a rental unit, has and will require further reducing market value by approximately $14,701.</a:t>
            </a:r>
            <a:br>
              <a:rPr lang="en-US" dirty="0"/>
            </a:br>
            <a:endParaRPr lang="en-US" dirty="0"/>
          </a:p>
        </p:txBody>
      </p:sp>
    </p:spTree>
    <p:extLst>
      <p:ext uri="{BB962C8B-B14F-4D97-AF65-F5344CB8AC3E}">
        <p14:creationId xmlns:p14="http://schemas.microsoft.com/office/powerpoint/2010/main" val="16617996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396E3-84FD-B3D0-4263-C8F4C5B2F9F7}"/>
              </a:ext>
            </a:extLst>
          </p:cNvPr>
          <p:cNvSpPr>
            <a:spLocks noGrp="1"/>
          </p:cNvSpPr>
          <p:nvPr>
            <p:ph type="title"/>
          </p:nvPr>
        </p:nvSpPr>
        <p:spPr>
          <a:xfrm>
            <a:off x="1158240" y="2750820"/>
            <a:ext cx="9875520" cy="1356360"/>
          </a:xfrm>
        </p:spPr>
        <p:txBody>
          <a:bodyPr/>
          <a:lstStyle/>
          <a:p>
            <a:pPr algn="ctr"/>
            <a:r>
              <a:rPr lang="en-US" dirty="0"/>
              <a:t>Enclosing analysis</a:t>
            </a:r>
          </a:p>
        </p:txBody>
      </p:sp>
    </p:spTree>
    <p:extLst>
      <p:ext uri="{BB962C8B-B14F-4D97-AF65-F5344CB8AC3E}">
        <p14:creationId xmlns:p14="http://schemas.microsoft.com/office/powerpoint/2010/main" val="4345904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42F75E-AD71-7965-F976-E7D6117780E0}"/>
              </a:ext>
            </a:extLst>
          </p:cNvPr>
          <p:cNvSpPr>
            <a:spLocks noGrp="1"/>
          </p:cNvSpPr>
          <p:nvPr>
            <p:ph idx="1"/>
          </p:nvPr>
        </p:nvSpPr>
        <p:spPr>
          <a:xfrm>
            <a:off x="402231" y="1206555"/>
            <a:ext cx="11387538" cy="5169078"/>
          </a:xfrm>
        </p:spPr>
        <p:txBody>
          <a:bodyPr/>
          <a:lstStyle/>
          <a:p>
            <a:r>
              <a:rPr lang="en-US" dirty="0"/>
              <a:t>The datasets presented included comparable properties for market value on January 1 2026 that could meet open market values to sell during2025. This used an open market survey, a  Federal Reserve Housing Market Index,  identically matching properties under foreclosure in 2025, and comparable properties sold in 2025 with sales data</a:t>
            </a:r>
          </a:p>
          <a:p>
            <a:r>
              <a:rPr lang="en-US" dirty="0"/>
              <a:t>Over 90% of sale prices are below county appraisal, matching the pattern of property sale prices decreasing by 10% - 15% year over year since 2022</a:t>
            </a:r>
          </a:p>
          <a:p>
            <a:r>
              <a:rPr lang="en-US" dirty="0"/>
              <a:t>The investment is failing at current market rates, falling far below investment opportunity </a:t>
            </a:r>
            <a:r>
              <a:rPr lang="en-US" dirty="0" err="1"/>
              <a:t>RoR</a:t>
            </a:r>
            <a:endParaRPr lang="en-US" dirty="0"/>
          </a:p>
          <a:p>
            <a:r>
              <a:rPr lang="en-US" dirty="0"/>
              <a:t>The property has cosmetic, functional, and safekeeping issues, costing a market value reduction of $14,701</a:t>
            </a:r>
          </a:p>
          <a:p>
            <a:r>
              <a:rPr lang="en-US" dirty="0"/>
              <a:t>The property faces the most extreme DOM pressure measure in the United States</a:t>
            </a:r>
          </a:p>
          <a:p>
            <a:endParaRPr lang="en-US" dirty="0"/>
          </a:p>
          <a:p>
            <a:pPr marL="45720" indent="0">
              <a:buNone/>
            </a:pPr>
            <a:endParaRPr lang="en-US" dirty="0"/>
          </a:p>
        </p:txBody>
      </p:sp>
      <p:sp>
        <p:nvSpPr>
          <p:cNvPr id="4" name="TextBox 3">
            <a:extLst>
              <a:ext uri="{FF2B5EF4-FFF2-40B4-BE49-F238E27FC236}">
                <a16:creationId xmlns:a16="http://schemas.microsoft.com/office/drawing/2014/main" id="{3EE3ACB7-E0DB-929B-C066-0551BA120E0F}"/>
              </a:ext>
            </a:extLst>
          </p:cNvPr>
          <p:cNvSpPr txBox="1"/>
          <p:nvPr/>
        </p:nvSpPr>
        <p:spPr>
          <a:xfrm>
            <a:off x="402231" y="375558"/>
            <a:ext cx="9681336" cy="830997"/>
          </a:xfrm>
          <a:prstGeom prst="rect">
            <a:avLst/>
          </a:prstGeom>
          <a:noFill/>
        </p:spPr>
        <p:txBody>
          <a:bodyPr wrap="square">
            <a:spAutoFit/>
          </a:bodyPr>
          <a:lstStyle/>
          <a:p>
            <a:pPr marL="45720" indent="0">
              <a:buNone/>
            </a:pPr>
            <a:r>
              <a:rPr lang="en-US" sz="4800" dirty="0">
                <a:solidFill>
                  <a:schemeClr val="accent1"/>
                </a:solidFill>
              </a:rPr>
              <a:t>Combining factors</a:t>
            </a:r>
          </a:p>
        </p:txBody>
      </p:sp>
    </p:spTree>
    <p:extLst>
      <p:ext uri="{BB962C8B-B14F-4D97-AF65-F5344CB8AC3E}">
        <p14:creationId xmlns:p14="http://schemas.microsoft.com/office/powerpoint/2010/main" val="2789380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356BE-AD00-B9D5-D2FC-24634561FF2F}"/>
              </a:ext>
            </a:extLst>
          </p:cNvPr>
          <p:cNvSpPr>
            <a:spLocks noGrp="1"/>
          </p:cNvSpPr>
          <p:nvPr>
            <p:ph idx="1"/>
          </p:nvPr>
        </p:nvSpPr>
        <p:spPr>
          <a:xfrm>
            <a:off x="402231" y="1206555"/>
            <a:ext cx="11536218" cy="3778351"/>
          </a:xfrm>
        </p:spPr>
        <p:txBody>
          <a:bodyPr>
            <a:normAutofit fontScale="92500" lnSpcReduction="20000"/>
          </a:bodyPr>
          <a:lstStyle/>
          <a:p>
            <a:pPr marL="45720" indent="0">
              <a:buNone/>
            </a:pPr>
            <a:r>
              <a:rPr lang="en-US" dirty="0"/>
              <a:t>1. Combining adjustment, cost, and market pressure for a sale of the property: Appraisal from the county – Cost to Market Property– Market Correction (price adjustment avg)</a:t>
            </a:r>
          </a:p>
          <a:p>
            <a:pPr lvl="1">
              <a:buFont typeface="Wingdings" panose="05000000000000000000" pitchFamily="2" charset="2"/>
              <a:buChar char="Ø"/>
            </a:pPr>
            <a:r>
              <a:rPr lang="en-US" dirty="0"/>
              <a:t>[$343,979 - $25,955] - 6.48% = $297,416</a:t>
            </a:r>
          </a:p>
          <a:p>
            <a:pPr marL="45720" indent="0">
              <a:buNone/>
            </a:pPr>
            <a:r>
              <a:rPr lang="en-US" dirty="0"/>
              <a:t>2. Dataset 1 Listed homes failed to meet open market – Cost to Market Property – Market Correction </a:t>
            </a:r>
          </a:p>
          <a:p>
            <a:pPr lvl="1">
              <a:buFont typeface="Wingdings" panose="05000000000000000000" pitchFamily="2" charset="2"/>
              <a:buChar char="Ø"/>
            </a:pPr>
            <a:r>
              <a:rPr lang="en-US" dirty="0"/>
              <a:t>[$298,570 - $25,955] - 6.48% = $254,949</a:t>
            </a:r>
          </a:p>
          <a:p>
            <a:pPr marL="45720" indent="0">
              <a:buNone/>
            </a:pPr>
            <a:r>
              <a:rPr lang="en-US" dirty="0"/>
              <a:t>3. Dataset 2 Federal Reserve index fluctuation – Cost to Market Property – Market Correction </a:t>
            </a:r>
          </a:p>
          <a:p>
            <a:pPr lvl="1">
              <a:buFont typeface="Wingdings" panose="05000000000000000000" pitchFamily="2" charset="2"/>
              <a:buChar char="Ø"/>
            </a:pPr>
            <a:r>
              <a:rPr lang="en-US" dirty="0"/>
              <a:t>[$360,907 - $25,955] - 6.48% = $313,243</a:t>
            </a:r>
          </a:p>
          <a:p>
            <a:pPr marL="45720" indent="0">
              <a:buNone/>
            </a:pPr>
            <a:r>
              <a:rPr lang="en-US" dirty="0"/>
              <a:t>4. Dataset 3 Foreclosure Sale Price – Cost to Market Property – Market Correction</a:t>
            </a:r>
          </a:p>
          <a:p>
            <a:pPr lvl="1">
              <a:buFont typeface="Wingdings" panose="05000000000000000000" pitchFamily="2" charset="2"/>
              <a:buChar char="Ø"/>
            </a:pPr>
            <a:r>
              <a:rPr lang="en-US" dirty="0"/>
              <a:t>[$300,000 - $25,955] - 6.48% = $256,286</a:t>
            </a:r>
          </a:p>
          <a:p>
            <a:pPr marL="45720" indent="0">
              <a:buNone/>
            </a:pPr>
            <a:r>
              <a:rPr lang="en-US" dirty="0"/>
              <a:t>5. Dataset 4 Average Market Sale Price – Cost to Market Property – Market Correction</a:t>
            </a:r>
          </a:p>
          <a:p>
            <a:pPr lvl="1">
              <a:buFont typeface="Wingdings" panose="05000000000000000000" pitchFamily="2" charset="2"/>
              <a:buChar char="Ø"/>
            </a:pPr>
            <a:r>
              <a:rPr lang="en-US" dirty="0"/>
              <a:t>[$315,535 - $25,955] - 6.48% = $270,815</a:t>
            </a:r>
          </a:p>
          <a:p>
            <a:pPr marL="45720" indent="0">
              <a:buNone/>
            </a:pPr>
            <a:endParaRPr lang="en-US" dirty="0"/>
          </a:p>
          <a:p>
            <a:pPr marL="45720" indent="0">
              <a:buNone/>
            </a:pPr>
            <a:endParaRPr lang="en-US" dirty="0"/>
          </a:p>
          <a:p>
            <a:pPr marL="45720" indent="0">
              <a:buNone/>
            </a:pPr>
            <a:endParaRPr lang="en-US" dirty="0"/>
          </a:p>
          <a:p>
            <a:pPr marL="45720" indent="0">
              <a:buNone/>
            </a:pPr>
            <a:endParaRPr lang="en-US" dirty="0"/>
          </a:p>
          <a:p>
            <a:pPr marL="45720" indent="0">
              <a:buNone/>
            </a:pPr>
            <a:endParaRPr lang="en-US" dirty="0"/>
          </a:p>
        </p:txBody>
      </p:sp>
      <p:graphicFrame>
        <p:nvGraphicFramePr>
          <p:cNvPr id="4" name="Table 3">
            <a:extLst>
              <a:ext uri="{FF2B5EF4-FFF2-40B4-BE49-F238E27FC236}">
                <a16:creationId xmlns:a16="http://schemas.microsoft.com/office/drawing/2014/main" id="{66399E41-1566-7404-2E6C-002EDCAA443B}"/>
              </a:ext>
            </a:extLst>
          </p:cNvPr>
          <p:cNvGraphicFramePr>
            <a:graphicFrameLocks noGrp="1"/>
          </p:cNvGraphicFramePr>
          <p:nvPr>
            <p:extLst>
              <p:ext uri="{D42A27DB-BD31-4B8C-83A1-F6EECF244321}">
                <p14:modId xmlns:p14="http://schemas.microsoft.com/office/powerpoint/2010/main" val="1900411157"/>
              </p:ext>
            </p:extLst>
          </p:nvPr>
        </p:nvGraphicFramePr>
        <p:xfrm>
          <a:off x="2250594" y="4984906"/>
          <a:ext cx="7690812" cy="741680"/>
        </p:xfrm>
        <a:graphic>
          <a:graphicData uri="http://schemas.openxmlformats.org/drawingml/2006/table">
            <a:tbl>
              <a:tblPr firstRow="1" bandRow="1">
                <a:tableStyleId>{5C22544A-7EE6-4342-B048-85BDC9FD1C3A}</a:tableStyleId>
              </a:tblPr>
              <a:tblGrid>
                <a:gridCol w="3845406">
                  <a:extLst>
                    <a:ext uri="{9D8B030D-6E8A-4147-A177-3AD203B41FA5}">
                      <a16:colId xmlns:a16="http://schemas.microsoft.com/office/drawing/2014/main" val="2538778315"/>
                    </a:ext>
                  </a:extLst>
                </a:gridCol>
                <a:gridCol w="3845406">
                  <a:extLst>
                    <a:ext uri="{9D8B030D-6E8A-4147-A177-3AD203B41FA5}">
                      <a16:colId xmlns:a16="http://schemas.microsoft.com/office/drawing/2014/main" val="341024394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Mean Adjusted Value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Median Adjusted Value</a:t>
                      </a:r>
                    </a:p>
                  </a:txBody>
                  <a:tcPr/>
                </a:tc>
                <a:extLst>
                  <a:ext uri="{0D108BD9-81ED-4DB2-BD59-A6C34878D82A}">
                    <a16:rowId xmlns:a16="http://schemas.microsoft.com/office/drawing/2014/main" val="3853561524"/>
                  </a:ext>
                </a:extLst>
              </a:tr>
              <a:tr h="370840">
                <a:tc>
                  <a:txBody>
                    <a:bodyPr/>
                    <a:lstStyle/>
                    <a:p>
                      <a:pPr algn="ctr"/>
                      <a:r>
                        <a:rPr lang="en-US" dirty="0"/>
                        <a:t>$286,291</a:t>
                      </a:r>
                    </a:p>
                  </a:txBody>
                  <a:tcPr/>
                </a:tc>
                <a:tc>
                  <a:txBody>
                    <a:bodyPr/>
                    <a:lstStyle/>
                    <a:p>
                      <a:pPr algn="ctr"/>
                      <a:r>
                        <a:rPr lang="en-US" dirty="0"/>
                        <a:t>$286,622</a:t>
                      </a:r>
                    </a:p>
                  </a:txBody>
                  <a:tcPr/>
                </a:tc>
                <a:extLst>
                  <a:ext uri="{0D108BD9-81ED-4DB2-BD59-A6C34878D82A}">
                    <a16:rowId xmlns:a16="http://schemas.microsoft.com/office/drawing/2014/main" val="2893733556"/>
                  </a:ext>
                </a:extLst>
              </a:tr>
            </a:tbl>
          </a:graphicData>
        </a:graphic>
      </p:graphicFrame>
      <p:sp>
        <p:nvSpPr>
          <p:cNvPr id="5" name="TextBox 4">
            <a:extLst>
              <a:ext uri="{FF2B5EF4-FFF2-40B4-BE49-F238E27FC236}">
                <a16:creationId xmlns:a16="http://schemas.microsoft.com/office/drawing/2014/main" id="{9F842D8A-B98A-F49C-E62E-6ABB021D95CC}"/>
              </a:ext>
            </a:extLst>
          </p:cNvPr>
          <p:cNvSpPr txBox="1"/>
          <p:nvPr/>
        </p:nvSpPr>
        <p:spPr>
          <a:xfrm>
            <a:off x="402231" y="375558"/>
            <a:ext cx="9681336" cy="830997"/>
          </a:xfrm>
          <a:prstGeom prst="rect">
            <a:avLst/>
          </a:prstGeom>
          <a:noFill/>
        </p:spPr>
        <p:txBody>
          <a:bodyPr wrap="square">
            <a:spAutoFit/>
          </a:bodyPr>
          <a:lstStyle/>
          <a:p>
            <a:pPr marL="45720" indent="0">
              <a:buNone/>
            </a:pPr>
            <a:r>
              <a:rPr lang="en-US" sz="4800" dirty="0">
                <a:solidFill>
                  <a:schemeClr val="accent1"/>
                </a:solidFill>
              </a:rPr>
              <a:t>Final Proposal</a:t>
            </a:r>
          </a:p>
        </p:txBody>
      </p:sp>
    </p:spTree>
    <p:extLst>
      <p:ext uri="{BB962C8B-B14F-4D97-AF65-F5344CB8AC3E}">
        <p14:creationId xmlns:p14="http://schemas.microsoft.com/office/powerpoint/2010/main" val="12696632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16953-E2BC-20E7-D0E7-7900C2599E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B01602-9F78-8788-04A3-F1A6AA5586DB}"/>
              </a:ext>
            </a:extLst>
          </p:cNvPr>
          <p:cNvSpPr>
            <a:spLocks noGrp="1"/>
          </p:cNvSpPr>
          <p:nvPr>
            <p:ph idx="1"/>
          </p:nvPr>
        </p:nvSpPr>
        <p:spPr>
          <a:xfrm>
            <a:off x="402231" y="1206555"/>
            <a:ext cx="11536218" cy="3778351"/>
          </a:xfrm>
        </p:spPr>
        <p:txBody>
          <a:bodyPr>
            <a:normAutofit fontScale="92500" lnSpcReduction="20000"/>
          </a:bodyPr>
          <a:lstStyle/>
          <a:p>
            <a:pPr marL="45720" indent="0">
              <a:buNone/>
            </a:pPr>
            <a:r>
              <a:rPr lang="en-US" dirty="0"/>
              <a:t>1. Combining adjustment, cost, and market pressure for a sale of the property: Appraisal from the county – Cost to Market Property– Market Correction (price adjustment avg)</a:t>
            </a:r>
          </a:p>
          <a:p>
            <a:pPr lvl="1">
              <a:buFont typeface="Wingdings" panose="05000000000000000000" pitchFamily="2" charset="2"/>
              <a:buChar char="ü"/>
            </a:pPr>
            <a:r>
              <a:rPr lang="en-US" dirty="0"/>
              <a:t>[$343,979 - $25,955] - 6.48% = $297,416</a:t>
            </a:r>
          </a:p>
          <a:p>
            <a:pPr marL="45720" indent="0">
              <a:buNone/>
            </a:pPr>
            <a:r>
              <a:rPr lang="en-US" dirty="0"/>
              <a:t>2. Dataset 1 Listed homes failed to meet open market – Cost to Market Property – Market Correction </a:t>
            </a:r>
          </a:p>
          <a:p>
            <a:pPr lvl="1">
              <a:buFont typeface="Wingdings" panose="05000000000000000000" pitchFamily="2" charset="2"/>
              <a:buChar char="q"/>
            </a:pPr>
            <a:r>
              <a:rPr lang="en-US" dirty="0"/>
              <a:t>[$298,570 - $25,955] - 6.48% = $254,949</a:t>
            </a:r>
          </a:p>
          <a:p>
            <a:pPr marL="45720" indent="0">
              <a:buNone/>
            </a:pPr>
            <a:r>
              <a:rPr lang="en-US" dirty="0"/>
              <a:t>3. Dataset 2 Federal Reserve index fluctuation – Cost to Market Property – Market Correction </a:t>
            </a:r>
          </a:p>
          <a:p>
            <a:pPr lvl="1">
              <a:buFont typeface="Wingdings" panose="05000000000000000000" pitchFamily="2" charset="2"/>
              <a:buChar char="q"/>
            </a:pPr>
            <a:r>
              <a:rPr lang="en-US" dirty="0"/>
              <a:t>[$360,907 - $25,955] - 6.48% = $313,243</a:t>
            </a:r>
          </a:p>
          <a:p>
            <a:pPr marL="45720" indent="0">
              <a:buNone/>
            </a:pPr>
            <a:r>
              <a:rPr lang="en-US" dirty="0"/>
              <a:t>4. Dataset 3 Foreclosure Sale Price – Cost to Market Property – Market Correction</a:t>
            </a:r>
          </a:p>
          <a:p>
            <a:pPr lvl="1">
              <a:buFont typeface="Wingdings" panose="05000000000000000000" pitchFamily="2" charset="2"/>
              <a:buChar char="q"/>
            </a:pPr>
            <a:r>
              <a:rPr lang="en-US" dirty="0"/>
              <a:t>[$300,000 - $25,955] - 6.48% = $256,286</a:t>
            </a:r>
          </a:p>
          <a:p>
            <a:pPr marL="45720" indent="0">
              <a:buNone/>
            </a:pPr>
            <a:r>
              <a:rPr lang="en-US" dirty="0"/>
              <a:t>5. Dataset 4 Average Market Sale Price – Cost to Market Property – Market Correction</a:t>
            </a:r>
          </a:p>
          <a:p>
            <a:pPr lvl="1">
              <a:buFont typeface="Wingdings" panose="05000000000000000000" pitchFamily="2" charset="2"/>
              <a:buChar char="ü"/>
            </a:pPr>
            <a:r>
              <a:rPr lang="en-US" dirty="0"/>
              <a:t>[$315,535 - $25,955] - 6.48% = $270,815</a:t>
            </a:r>
          </a:p>
          <a:p>
            <a:pPr marL="45720" indent="0">
              <a:buNone/>
            </a:pPr>
            <a:endParaRPr lang="en-US" dirty="0"/>
          </a:p>
          <a:p>
            <a:pPr marL="45720" indent="0">
              <a:buNone/>
            </a:pPr>
            <a:endParaRPr lang="en-US" dirty="0"/>
          </a:p>
          <a:p>
            <a:pPr marL="45720" indent="0">
              <a:buNone/>
            </a:pPr>
            <a:endParaRPr lang="en-US" dirty="0"/>
          </a:p>
          <a:p>
            <a:pPr marL="45720" indent="0">
              <a:buNone/>
            </a:pPr>
            <a:endParaRPr lang="en-US" dirty="0"/>
          </a:p>
          <a:p>
            <a:pPr marL="45720" indent="0">
              <a:buNone/>
            </a:pPr>
            <a:endParaRPr lang="en-US" dirty="0"/>
          </a:p>
        </p:txBody>
      </p:sp>
      <p:sp>
        <p:nvSpPr>
          <p:cNvPr id="5" name="TextBox 4">
            <a:extLst>
              <a:ext uri="{FF2B5EF4-FFF2-40B4-BE49-F238E27FC236}">
                <a16:creationId xmlns:a16="http://schemas.microsoft.com/office/drawing/2014/main" id="{2F33E125-CE22-25F1-E263-9538CA1A1714}"/>
              </a:ext>
            </a:extLst>
          </p:cNvPr>
          <p:cNvSpPr txBox="1"/>
          <p:nvPr/>
        </p:nvSpPr>
        <p:spPr>
          <a:xfrm>
            <a:off x="402231" y="375558"/>
            <a:ext cx="9681336" cy="830997"/>
          </a:xfrm>
          <a:prstGeom prst="rect">
            <a:avLst/>
          </a:prstGeom>
          <a:noFill/>
        </p:spPr>
        <p:txBody>
          <a:bodyPr wrap="square">
            <a:spAutoFit/>
          </a:bodyPr>
          <a:lstStyle/>
          <a:p>
            <a:pPr marL="45720" indent="0">
              <a:buNone/>
            </a:pPr>
            <a:r>
              <a:rPr lang="en-US" sz="4800" dirty="0">
                <a:solidFill>
                  <a:schemeClr val="accent1"/>
                </a:solidFill>
              </a:rPr>
              <a:t>Final Proposal</a:t>
            </a:r>
          </a:p>
        </p:txBody>
      </p:sp>
    </p:spTree>
    <p:extLst>
      <p:ext uri="{BB962C8B-B14F-4D97-AF65-F5344CB8AC3E}">
        <p14:creationId xmlns:p14="http://schemas.microsoft.com/office/powerpoint/2010/main" val="1510593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38F03-04E3-7F56-663D-89B2DD703C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0A1B0D-6A00-25DF-6F26-9B05FE7B37F9}"/>
              </a:ext>
            </a:extLst>
          </p:cNvPr>
          <p:cNvSpPr>
            <a:spLocks noGrp="1"/>
          </p:cNvSpPr>
          <p:nvPr>
            <p:ph idx="1"/>
          </p:nvPr>
        </p:nvSpPr>
        <p:spPr>
          <a:xfrm>
            <a:off x="402231" y="1206555"/>
            <a:ext cx="11536218" cy="3778351"/>
          </a:xfrm>
        </p:spPr>
        <p:txBody>
          <a:bodyPr>
            <a:normAutofit/>
          </a:bodyPr>
          <a:lstStyle/>
          <a:p>
            <a:pPr marL="45720" indent="0">
              <a:buNone/>
            </a:pPr>
            <a:r>
              <a:rPr lang="en-US" dirty="0"/>
              <a:t>1. Combining adjustment, cost, and market pressure for a sale of the property: Appraisal from the county – Cost to Market Property– Market Correction (price adjustment avg)</a:t>
            </a:r>
          </a:p>
          <a:p>
            <a:pPr lvl="1">
              <a:buFont typeface="Wingdings" panose="05000000000000000000" pitchFamily="2" charset="2"/>
              <a:buChar char="ü"/>
            </a:pPr>
            <a:r>
              <a:rPr lang="en-US" dirty="0"/>
              <a:t>[$343,979 - $25,955] - 6.48% = $297,416</a:t>
            </a:r>
          </a:p>
          <a:p>
            <a:pPr marL="45720" indent="0">
              <a:buNone/>
            </a:pPr>
            <a:r>
              <a:rPr lang="en-US" dirty="0"/>
              <a:t>2. Dataset 4 Average Market Sale Price – Cost to Market Property – Market Correction</a:t>
            </a:r>
          </a:p>
          <a:p>
            <a:pPr lvl="1">
              <a:buFont typeface="Wingdings" panose="05000000000000000000" pitchFamily="2" charset="2"/>
              <a:buChar char="ü"/>
            </a:pPr>
            <a:r>
              <a:rPr lang="en-US" dirty="0"/>
              <a:t>[$315,535 - $25,955] - 6.48% = $270,815</a:t>
            </a:r>
          </a:p>
          <a:p>
            <a:pPr marL="45720" indent="0">
              <a:buNone/>
            </a:pPr>
            <a:r>
              <a:rPr lang="en-US" dirty="0"/>
              <a:t>Texas Tax Code § 23.01(a), Appraisals Generally — taxable property shall be appraised at market value as of January 1</a:t>
            </a:r>
          </a:p>
          <a:p>
            <a:pPr marL="45720" indent="0">
              <a:buNone/>
            </a:pPr>
            <a:r>
              <a:rPr lang="en-US" dirty="0"/>
              <a:t>Texas Tax Code § 1.04(7), Definition of Market Value — defines market value as the price a property would transfer for cash in an open market transaction</a:t>
            </a:r>
          </a:p>
          <a:p>
            <a:pPr marL="274320" lvl="1" indent="0">
              <a:buNone/>
            </a:pPr>
            <a:endParaRPr lang="en-US" dirty="0"/>
          </a:p>
          <a:p>
            <a:pPr lvl="1">
              <a:buFont typeface="Wingdings" panose="05000000000000000000" pitchFamily="2" charset="2"/>
              <a:buChar char="ü"/>
            </a:pPr>
            <a:endParaRPr lang="en-US" dirty="0"/>
          </a:p>
          <a:p>
            <a:pPr marL="45720" indent="0">
              <a:buNone/>
            </a:pPr>
            <a:endParaRPr lang="en-US" dirty="0"/>
          </a:p>
          <a:p>
            <a:pPr marL="45720" indent="0">
              <a:buNone/>
            </a:pPr>
            <a:endParaRPr lang="en-US" dirty="0"/>
          </a:p>
          <a:p>
            <a:pPr marL="45720" indent="0">
              <a:buNone/>
            </a:pPr>
            <a:endParaRPr lang="en-US" dirty="0"/>
          </a:p>
          <a:p>
            <a:pPr marL="45720" indent="0">
              <a:buNone/>
            </a:pPr>
            <a:endParaRPr lang="en-US" dirty="0"/>
          </a:p>
          <a:p>
            <a:pPr marL="45720" indent="0">
              <a:buNone/>
            </a:pPr>
            <a:endParaRPr lang="en-US" dirty="0"/>
          </a:p>
        </p:txBody>
      </p:sp>
      <p:sp>
        <p:nvSpPr>
          <p:cNvPr id="5" name="TextBox 4">
            <a:extLst>
              <a:ext uri="{FF2B5EF4-FFF2-40B4-BE49-F238E27FC236}">
                <a16:creationId xmlns:a16="http://schemas.microsoft.com/office/drawing/2014/main" id="{FFC63EC0-B7C2-0897-E9F9-15BB824C246B}"/>
              </a:ext>
            </a:extLst>
          </p:cNvPr>
          <p:cNvSpPr txBox="1"/>
          <p:nvPr/>
        </p:nvSpPr>
        <p:spPr>
          <a:xfrm>
            <a:off x="402231" y="375558"/>
            <a:ext cx="9681336" cy="830997"/>
          </a:xfrm>
          <a:prstGeom prst="rect">
            <a:avLst/>
          </a:prstGeom>
          <a:noFill/>
        </p:spPr>
        <p:txBody>
          <a:bodyPr wrap="square">
            <a:spAutoFit/>
          </a:bodyPr>
          <a:lstStyle/>
          <a:p>
            <a:pPr marL="45720" indent="0">
              <a:buNone/>
            </a:pPr>
            <a:r>
              <a:rPr lang="en-US" sz="4800" dirty="0">
                <a:solidFill>
                  <a:schemeClr val="accent1"/>
                </a:solidFill>
              </a:rPr>
              <a:t>Final Proposal</a:t>
            </a:r>
          </a:p>
        </p:txBody>
      </p:sp>
      <p:graphicFrame>
        <p:nvGraphicFramePr>
          <p:cNvPr id="2" name="Table 1">
            <a:extLst>
              <a:ext uri="{FF2B5EF4-FFF2-40B4-BE49-F238E27FC236}">
                <a16:creationId xmlns:a16="http://schemas.microsoft.com/office/drawing/2014/main" id="{62E2EBAA-12F3-F41E-71D8-C80EC959EECD}"/>
              </a:ext>
            </a:extLst>
          </p:cNvPr>
          <p:cNvGraphicFramePr>
            <a:graphicFrameLocks noGrp="1"/>
          </p:cNvGraphicFramePr>
          <p:nvPr>
            <p:extLst>
              <p:ext uri="{D42A27DB-BD31-4B8C-83A1-F6EECF244321}">
                <p14:modId xmlns:p14="http://schemas.microsoft.com/office/powerpoint/2010/main" val="530042925"/>
              </p:ext>
            </p:extLst>
          </p:nvPr>
        </p:nvGraphicFramePr>
        <p:xfrm>
          <a:off x="1581407" y="5074223"/>
          <a:ext cx="9177866" cy="741680"/>
        </p:xfrm>
        <a:graphic>
          <a:graphicData uri="http://schemas.openxmlformats.org/drawingml/2006/table">
            <a:tbl>
              <a:tblPr firstRow="1" bandRow="1">
                <a:tableStyleId>{5C22544A-7EE6-4342-B048-85BDC9FD1C3A}</a:tableStyleId>
              </a:tblPr>
              <a:tblGrid>
                <a:gridCol w="4588933">
                  <a:extLst>
                    <a:ext uri="{9D8B030D-6E8A-4147-A177-3AD203B41FA5}">
                      <a16:colId xmlns:a16="http://schemas.microsoft.com/office/drawing/2014/main" val="2538778315"/>
                    </a:ext>
                  </a:extLst>
                </a:gridCol>
                <a:gridCol w="4588933">
                  <a:extLst>
                    <a:ext uri="{9D8B030D-6E8A-4147-A177-3AD203B41FA5}">
                      <a16:colId xmlns:a16="http://schemas.microsoft.com/office/drawing/2014/main" val="341024394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Average Open Market Value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Proposed Market Value disputed address</a:t>
                      </a:r>
                    </a:p>
                  </a:txBody>
                  <a:tcPr/>
                </a:tc>
                <a:extLst>
                  <a:ext uri="{0D108BD9-81ED-4DB2-BD59-A6C34878D82A}">
                    <a16:rowId xmlns:a16="http://schemas.microsoft.com/office/drawing/2014/main" val="3853561524"/>
                  </a:ext>
                </a:extLst>
              </a:tr>
              <a:tr h="370840">
                <a:tc>
                  <a:txBody>
                    <a:bodyPr/>
                    <a:lstStyle/>
                    <a:p>
                      <a:pPr algn="ctr"/>
                      <a:r>
                        <a:rPr lang="en-US" dirty="0"/>
                        <a:t>$286,622</a:t>
                      </a:r>
                    </a:p>
                  </a:txBody>
                  <a:tcPr/>
                </a:tc>
                <a:tc>
                  <a:txBody>
                    <a:bodyPr/>
                    <a:lstStyle/>
                    <a:p>
                      <a:pPr algn="ctr"/>
                      <a:r>
                        <a:rPr lang="en-US" dirty="0"/>
                        <a:t>$286,622</a:t>
                      </a:r>
                    </a:p>
                  </a:txBody>
                  <a:tcPr/>
                </a:tc>
                <a:extLst>
                  <a:ext uri="{0D108BD9-81ED-4DB2-BD59-A6C34878D82A}">
                    <a16:rowId xmlns:a16="http://schemas.microsoft.com/office/drawing/2014/main" val="2893733556"/>
                  </a:ext>
                </a:extLst>
              </a:tr>
            </a:tbl>
          </a:graphicData>
        </a:graphic>
      </p:graphicFrame>
    </p:spTree>
    <p:extLst>
      <p:ext uri="{BB962C8B-B14F-4D97-AF65-F5344CB8AC3E}">
        <p14:creationId xmlns:p14="http://schemas.microsoft.com/office/powerpoint/2010/main" val="2553200725"/>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Basis</Template>
  <TotalTime>1206</TotalTime>
  <Words>2185</Words>
  <Application>Microsoft Office PowerPoint</Application>
  <PresentationFormat>Widescreen</PresentationFormat>
  <Paragraphs>517</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 Narrow</vt:lpstr>
      <vt:lpstr>Arial</vt:lpstr>
      <vt:lpstr>Calibri</vt:lpstr>
      <vt:lpstr>Corbel</vt:lpstr>
      <vt:lpstr>Wingdings</vt:lpstr>
      <vt:lpstr>Basis</vt:lpstr>
      <vt:lpstr>Appraisal Dispute</vt:lpstr>
      <vt:lpstr>The following analysis is performed and cited as:   Jeremy Wolfson, Numerical Comparative Market Analysis, June 2026. Dataset source: Unlock MLS Residential Sales Records, Zillow, Williamson CAD, Federal Reserve, Service Link Auction, &amp; Texas Tax Code, various analysis sites.</vt:lpstr>
      <vt:lpstr>PowerPoint Presentation</vt:lpstr>
      <vt:lpstr>PowerPoint Presentation</vt:lpstr>
      <vt:lpstr>Market Dataset 1</vt:lpstr>
      <vt:lpstr>Average 2025 Housing Market</vt:lpstr>
      <vt:lpstr>Average 2025 Housing Market</vt:lpstr>
      <vt:lpstr>PowerPoint Presentation</vt:lpstr>
      <vt:lpstr>PowerPoint Presentation</vt:lpstr>
      <vt:lpstr>PowerPoint Presentation</vt:lpstr>
      <vt:lpstr>PowerPoint Presentation</vt:lpstr>
      <vt:lpstr>Market Dataset 2</vt:lpstr>
      <vt:lpstr>PowerPoint Presentation</vt:lpstr>
      <vt:lpstr>PowerPoint Presentation</vt:lpstr>
      <vt:lpstr>PowerPoint Presentation</vt:lpstr>
      <vt:lpstr>Market Dataset 3</vt:lpstr>
      <vt:lpstr>PowerPoint Presentation</vt:lpstr>
      <vt:lpstr>102 Marimoor Dr Auction Results</vt:lpstr>
      <vt:lpstr>PowerPoint Presentation</vt:lpstr>
      <vt:lpstr>PowerPoint Presentation</vt:lpstr>
      <vt:lpstr>PowerPoint Presentation</vt:lpstr>
      <vt:lpstr>Market Dataset 4</vt:lpstr>
      <vt:lpstr>PowerPoint Presentation</vt:lpstr>
      <vt:lpstr>PowerPoint Presentation</vt:lpstr>
      <vt:lpstr>Miscellaneous Analysis</vt:lpstr>
      <vt:lpstr>Property Repairs</vt:lpstr>
      <vt:lpstr>Property Repairs</vt:lpstr>
      <vt:lpstr>Enclosing analysis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Jeremy Wolfson</dc:creator>
  <cp:lastModifiedBy>Jeremy Wolfson</cp:lastModifiedBy>
  <cp:revision>14</cp:revision>
  <dcterms:created xsi:type="dcterms:W3CDTF">2026-06-13T06:50:25Z</dcterms:created>
  <dcterms:modified xsi:type="dcterms:W3CDTF">2026-06-18T15:55:14Z</dcterms:modified>
</cp:coreProperties>
</file>